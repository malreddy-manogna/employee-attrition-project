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3"/>
  </p:notesMasterIdLst>
  <p:sldIdLst>
    <p:sldId id="297" r:id="rId2"/>
    <p:sldId id="256" r:id="rId3"/>
    <p:sldId id="258" r:id="rId4"/>
    <p:sldId id="259" r:id="rId5"/>
    <p:sldId id="301" r:id="rId6"/>
    <p:sldId id="302" r:id="rId7"/>
    <p:sldId id="303" r:id="rId8"/>
    <p:sldId id="304" r:id="rId9"/>
    <p:sldId id="305" r:id="rId10"/>
    <p:sldId id="306" r:id="rId11"/>
    <p:sldId id="275" r:id="rId12"/>
  </p:sldIdLst>
  <p:sldSz cx="9144000" cy="5143500" type="screen16x9"/>
  <p:notesSz cx="6858000" cy="9144000"/>
  <p:embeddedFontLst>
    <p:embeddedFont>
      <p:font typeface="Anaheim" panose="020B0604020202020204" charset="0"/>
      <p:regular r:id="rId14"/>
      <p:bold r:id="rId15"/>
    </p:embeddedFont>
    <p:embeddedFont>
      <p:font typeface="Baloo 2 ExtraBold" panose="020B0604020202020204" charset="0"/>
      <p:bold r:id="rId16"/>
    </p:embeddedFont>
    <p:embeddedFont>
      <p:font typeface="DM Sans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0033578-9831-4570-9043-D22C2477B680}">
  <a:tblStyle styleId="{10033578-9831-4570-9043-D22C2477B68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679AAA6-976C-4519-89CD-D0DCB1CC49A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 varScale="1">
        <p:scale>
          <a:sx n="106" d="100"/>
          <a:sy n="106" d="100"/>
        </p:scale>
        <p:origin x="4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7" name="Google Shape;75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dirty="0"/>
              <a:t>Employee attrition happens when employees leave an organization, and high attrition can significantly impact costs, productivity, and team morale.</a:t>
            </a:r>
          </a:p>
          <a:p>
            <a:pPr marL="158750" indent="0">
              <a:buNone/>
            </a:pPr>
            <a:r>
              <a:rPr lang="en-US" dirty="0"/>
              <a:t>By analyzing HR data, we can gain valuable insights into critical factors such as salary and compensation, job satisfaction, career growth opportunities, and work-life balance.</a:t>
            </a:r>
          </a:p>
          <a:p>
            <a:pPr marL="158750" indent="0">
              <a:buNone/>
            </a:pPr>
            <a:r>
              <a:rPr lang="en-US" dirty="0"/>
              <a:t>This analysis empowers HR teams to identify the key reasons behind attrition and take proactive, data-driven steps to improve employee retention, ensuring a stronger, more engaged workforce.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>
          <a:extLst>
            <a:ext uri="{FF2B5EF4-FFF2-40B4-BE49-F238E27FC236}">
              <a16:creationId xmlns:a16="http://schemas.microsoft.com/office/drawing/2014/main" id="{7E82EE70-B979-3E0F-D866-72404EC05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4072739ea5_12_0:notes">
            <a:extLst>
              <a:ext uri="{FF2B5EF4-FFF2-40B4-BE49-F238E27FC236}">
                <a16:creationId xmlns:a16="http://schemas.microsoft.com/office/drawing/2014/main" id="{8B65DF51-C579-4457-87F8-5C6756A716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4072739ea5_12_0:notes">
            <a:extLst>
              <a:ext uri="{FF2B5EF4-FFF2-40B4-BE49-F238E27FC236}">
                <a16:creationId xmlns:a16="http://schemas.microsoft.com/office/drawing/2014/main" id="{43412EA1-64C2-C1DF-7D23-4E71C2B87D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main objective of this project is to analyze HR data and uncover patterns related to employee </a:t>
            </a:r>
            <a:r>
              <a:rPr lang="en-US" dirty="0" err="1"/>
              <a:t>attrition.We</a:t>
            </a:r>
            <a:r>
              <a:rPr lang="en-US" dirty="0"/>
              <a:t> aim to identify the key factors that influence employees to leave the organization. This includes studying the relationship between job satisfaction, salary, promotions, and attrition </a:t>
            </a:r>
            <a:r>
              <a:rPr lang="en-US" dirty="0" err="1"/>
              <a:t>trends.The</a:t>
            </a:r>
            <a:r>
              <a:rPr lang="en-US" dirty="0"/>
              <a:t> ultimate goal is to provide HR teams with actionable insights that can help design better retention </a:t>
            </a:r>
            <a:r>
              <a:rPr lang="en-US" dirty="0" err="1"/>
              <a:t>strategies.By</a:t>
            </a:r>
            <a:r>
              <a:rPr lang="en-US" dirty="0"/>
              <a:t> doing so, we support data-driven decision-making to effectively reduce attrition and improve workforce stability.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2403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>
          <a:extLst>
            <a:ext uri="{FF2B5EF4-FFF2-40B4-BE49-F238E27FC236}">
              <a16:creationId xmlns:a16="http://schemas.microsoft.com/office/drawing/2014/main" id="{D9255E89-712B-8B24-D17C-C0AD493D5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4072739ea5_12_0:notes">
            <a:extLst>
              <a:ext uri="{FF2B5EF4-FFF2-40B4-BE49-F238E27FC236}">
                <a16:creationId xmlns:a16="http://schemas.microsoft.com/office/drawing/2014/main" id="{897B34D6-4867-43CC-E352-36E778EEE0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4072739ea5_12_0:notes">
            <a:extLst>
              <a:ext uri="{FF2B5EF4-FFF2-40B4-BE49-F238E27FC236}">
                <a16:creationId xmlns:a16="http://schemas.microsoft.com/office/drawing/2014/main" id="{69931EA8-1E39-E1F8-A6AF-6C1E6587B8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6468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>
          <a:extLst>
            <a:ext uri="{FF2B5EF4-FFF2-40B4-BE49-F238E27FC236}">
              <a16:creationId xmlns:a16="http://schemas.microsoft.com/office/drawing/2014/main" id="{84C8AEF2-6E35-44C4-7EB1-F0B724418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4072739ea5_12_0:notes">
            <a:extLst>
              <a:ext uri="{FF2B5EF4-FFF2-40B4-BE49-F238E27FC236}">
                <a16:creationId xmlns:a16="http://schemas.microsoft.com/office/drawing/2014/main" id="{4E426951-5F50-9B7F-8E4A-77AC3D7A77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4072739ea5_12_0:notes">
            <a:extLst>
              <a:ext uri="{FF2B5EF4-FFF2-40B4-BE49-F238E27FC236}">
                <a16:creationId xmlns:a16="http://schemas.microsoft.com/office/drawing/2014/main" id="{F0722E92-DA11-5C35-262C-CDC18A578D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654575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>
          <a:extLst>
            <a:ext uri="{FF2B5EF4-FFF2-40B4-BE49-F238E27FC236}">
              <a16:creationId xmlns:a16="http://schemas.microsoft.com/office/drawing/2014/main" id="{24786EE7-B14D-68EA-1921-07E88A216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14072739ea5_12_0:notes">
            <a:extLst>
              <a:ext uri="{FF2B5EF4-FFF2-40B4-BE49-F238E27FC236}">
                <a16:creationId xmlns:a16="http://schemas.microsoft.com/office/drawing/2014/main" id="{A79EF01C-9DB8-9CFB-3BCC-71F7B83B87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14072739ea5_12_0:notes">
            <a:extLst>
              <a:ext uri="{FF2B5EF4-FFF2-40B4-BE49-F238E27FC236}">
                <a16:creationId xmlns:a16="http://schemas.microsoft.com/office/drawing/2014/main" id="{2CBE42B7-3343-F2D8-FE20-82CFAB8547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2728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011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8" name="Google Shape;1338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644614" y="-2747525"/>
            <a:ext cx="12278718" cy="10475804"/>
            <a:chOff x="-1644614" y="-2747525"/>
            <a:chExt cx="12278718" cy="10475804"/>
          </a:xfrm>
        </p:grpSpPr>
        <p:sp>
          <p:nvSpPr>
            <p:cNvPr id="10" name="Google Shape;10;p2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 b="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9"/>
          <p:cNvSpPr txBox="1">
            <a:spLocks noGrp="1"/>
          </p:cNvSpPr>
          <p:nvPr>
            <p:ph type="subTitle" idx="1"/>
          </p:nvPr>
        </p:nvSpPr>
        <p:spPr>
          <a:xfrm>
            <a:off x="4731475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9"/>
          <p:cNvSpPr txBox="1">
            <a:spLocks noGrp="1"/>
          </p:cNvSpPr>
          <p:nvPr>
            <p:ph type="subTitle" idx="2"/>
          </p:nvPr>
        </p:nvSpPr>
        <p:spPr>
          <a:xfrm>
            <a:off x="872400" y="1538600"/>
            <a:ext cx="3699300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4" name="Google Shape;194;p9"/>
          <p:cNvGrpSpPr/>
          <p:nvPr/>
        </p:nvGrpSpPr>
        <p:grpSpPr>
          <a:xfrm>
            <a:off x="-1003990" y="-1494873"/>
            <a:ext cx="12202257" cy="9246220"/>
            <a:chOff x="-1003990" y="-1494873"/>
            <a:chExt cx="12202257" cy="9246220"/>
          </a:xfrm>
        </p:grpSpPr>
        <p:sp>
          <p:nvSpPr>
            <p:cNvPr id="195" name="Google Shape;195;p9"/>
            <p:cNvSpPr/>
            <p:nvPr/>
          </p:nvSpPr>
          <p:spPr>
            <a:xfrm rot="-1862678">
              <a:off x="6571680" y="3713484"/>
              <a:ext cx="4091079" cy="3213076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 rot="-3988337" flipH="1">
              <a:off x="-833999" y="-1017772"/>
              <a:ext cx="2249730" cy="1845020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9"/>
          <p:cNvGrpSpPr/>
          <p:nvPr/>
        </p:nvGrpSpPr>
        <p:grpSpPr>
          <a:xfrm>
            <a:off x="7726686" y="3223087"/>
            <a:ext cx="1740094" cy="1817570"/>
            <a:chOff x="7726686" y="3223087"/>
            <a:chExt cx="1740094" cy="1817570"/>
          </a:xfrm>
        </p:grpSpPr>
        <p:grpSp>
          <p:nvGrpSpPr>
            <p:cNvPr id="198" name="Google Shape;198;p9"/>
            <p:cNvGrpSpPr/>
            <p:nvPr/>
          </p:nvGrpSpPr>
          <p:grpSpPr>
            <a:xfrm>
              <a:off x="8790410" y="3223087"/>
              <a:ext cx="676370" cy="1142272"/>
              <a:chOff x="2757910" y="1240337"/>
              <a:chExt cx="676370" cy="1142272"/>
            </a:xfrm>
          </p:grpSpPr>
          <p:sp>
            <p:nvSpPr>
              <p:cNvPr id="199" name="Google Shape;199;p9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9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9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9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9"/>
            <p:cNvGrpSpPr/>
            <p:nvPr/>
          </p:nvGrpSpPr>
          <p:grpSpPr>
            <a:xfrm>
              <a:off x="7726686" y="4365344"/>
              <a:ext cx="959226" cy="675313"/>
              <a:chOff x="3622711" y="1331469"/>
              <a:chExt cx="959226" cy="675313"/>
            </a:xfrm>
          </p:grpSpPr>
          <p:sp>
            <p:nvSpPr>
              <p:cNvPr id="208" name="Google Shape;208;p9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9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9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9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9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9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9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9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9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9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9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9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9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" name="Google Shape;223;p9"/>
          <p:cNvGrpSpPr/>
          <p:nvPr/>
        </p:nvGrpSpPr>
        <p:grpSpPr>
          <a:xfrm>
            <a:off x="184075" y="23395"/>
            <a:ext cx="8461726" cy="4179175"/>
            <a:chOff x="184075" y="23395"/>
            <a:chExt cx="8461726" cy="4179175"/>
          </a:xfrm>
        </p:grpSpPr>
        <p:sp>
          <p:nvSpPr>
            <p:cNvPr id="224" name="Google Shape;224;p9"/>
            <p:cNvSpPr/>
            <p:nvPr/>
          </p:nvSpPr>
          <p:spPr>
            <a:xfrm>
              <a:off x="8319127" y="3880170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614752" y="233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184075" y="4921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14"/>
          <p:cNvSpPr txBox="1">
            <a:spLocks noGrp="1"/>
          </p:cNvSpPr>
          <p:nvPr>
            <p:ph type="subTitle" idx="1"/>
          </p:nvPr>
        </p:nvSpPr>
        <p:spPr>
          <a:xfrm>
            <a:off x="15243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14"/>
          <p:cNvSpPr txBox="1">
            <a:spLocks noGrp="1"/>
          </p:cNvSpPr>
          <p:nvPr>
            <p:ph type="subTitle" idx="2"/>
          </p:nvPr>
        </p:nvSpPr>
        <p:spPr>
          <a:xfrm>
            <a:off x="5419075" y="2060193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14"/>
          <p:cNvSpPr txBox="1">
            <a:spLocks noGrp="1"/>
          </p:cNvSpPr>
          <p:nvPr>
            <p:ph type="subTitle" idx="3"/>
          </p:nvPr>
        </p:nvSpPr>
        <p:spPr>
          <a:xfrm>
            <a:off x="15243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14"/>
          <p:cNvSpPr txBox="1">
            <a:spLocks noGrp="1"/>
          </p:cNvSpPr>
          <p:nvPr>
            <p:ph type="subTitle" idx="4"/>
          </p:nvPr>
        </p:nvSpPr>
        <p:spPr>
          <a:xfrm>
            <a:off x="5419075" y="3717175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5" name="Google Shape;305;p14"/>
          <p:cNvSpPr txBox="1">
            <a:spLocks noGrp="1"/>
          </p:cNvSpPr>
          <p:nvPr>
            <p:ph type="title" idx="5" hasCustomPrompt="1"/>
          </p:nvPr>
        </p:nvSpPr>
        <p:spPr>
          <a:xfrm>
            <a:off x="859275" y="1424275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6" name="Google Shape;306;p14"/>
          <p:cNvSpPr txBox="1">
            <a:spLocks noGrp="1"/>
          </p:cNvSpPr>
          <p:nvPr>
            <p:ph type="title" idx="6" hasCustomPrompt="1"/>
          </p:nvPr>
        </p:nvSpPr>
        <p:spPr>
          <a:xfrm>
            <a:off x="859275" y="3080674"/>
            <a:ext cx="6675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7" name="Google Shape;307;p14"/>
          <p:cNvSpPr txBox="1">
            <a:spLocks noGrp="1"/>
          </p:cNvSpPr>
          <p:nvPr>
            <p:ph type="title" idx="7" hasCustomPrompt="1"/>
          </p:nvPr>
        </p:nvSpPr>
        <p:spPr>
          <a:xfrm>
            <a:off x="4753977" y="1424275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8" name="Google Shape;308;p14"/>
          <p:cNvSpPr txBox="1">
            <a:spLocks noGrp="1"/>
          </p:cNvSpPr>
          <p:nvPr>
            <p:ph type="title" idx="8" hasCustomPrompt="1"/>
          </p:nvPr>
        </p:nvSpPr>
        <p:spPr>
          <a:xfrm>
            <a:off x="4753977" y="3080674"/>
            <a:ext cx="665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9" name="Google Shape;309;p14"/>
          <p:cNvSpPr txBox="1">
            <a:spLocks noGrp="1"/>
          </p:cNvSpPr>
          <p:nvPr>
            <p:ph type="subTitle" idx="9"/>
          </p:nvPr>
        </p:nvSpPr>
        <p:spPr>
          <a:xfrm>
            <a:off x="15243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0" name="Google Shape;310;p14"/>
          <p:cNvSpPr txBox="1">
            <a:spLocks noGrp="1"/>
          </p:cNvSpPr>
          <p:nvPr>
            <p:ph type="subTitle" idx="13"/>
          </p:nvPr>
        </p:nvSpPr>
        <p:spPr>
          <a:xfrm>
            <a:off x="5419075" y="1426525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1" name="Google Shape;311;p14"/>
          <p:cNvSpPr txBox="1">
            <a:spLocks noGrp="1"/>
          </p:cNvSpPr>
          <p:nvPr>
            <p:ph type="subTitle" idx="14"/>
          </p:nvPr>
        </p:nvSpPr>
        <p:spPr>
          <a:xfrm>
            <a:off x="15243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312" name="Google Shape;312;p14"/>
          <p:cNvSpPr txBox="1">
            <a:spLocks noGrp="1"/>
          </p:cNvSpPr>
          <p:nvPr>
            <p:ph type="subTitle" idx="15"/>
          </p:nvPr>
        </p:nvSpPr>
        <p:spPr>
          <a:xfrm>
            <a:off x="5419075" y="3082997"/>
            <a:ext cx="2958000" cy="75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grpSp>
        <p:nvGrpSpPr>
          <p:cNvPr id="313" name="Google Shape;313;p14"/>
          <p:cNvGrpSpPr/>
          <p:nvPr/>
        </p:nvGrpSpPr>
        <p:grpSpPr>
          <a:xfrm>
            <a:off x="-1037742" y="-2235586"/>
            <a:ext cx="11304662" cy="8284665"/>
            <a:chOff x="-1037742" y="-2235586"/>
            <a:chExt cx="11304662" cy="8284665"/>
          </a:xfrm>
        </p:grpSpPr>
        <p:sp>
          <p:nvSpPr>
            <p:cNvPr id="314" name="Google Shape;314;p14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 rot="-9880295" flipH="1">
              <a:off x="-833926" y="3939881"/>
              <a:ext cx="2249342" cy="1844701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4"/>
          <p:cNvGrpSpPr/>
          <p:nvPr/>
        </p:nvGrpSpPr>
        <p:grpSpPr>
          <a:xfrm>
            <a:off x="-49429" y="3983121"/>
            <a:ext cx="1527509" cy="1332112"/>
            <a:chOff x="-49429" y="3983121"/>
            <a:chExt cx="1527509" cy="1332112"/>
          </a:xfrm>
        </p:grpSpPr>
        <p:grpSp>
          <p:nvGrpSpPr>
            <p:cNvPr id="317" name="Google Shape;317;p14"/>
            <p:cNvGrpSpPr/>
            <p:nvPr/>
          </p:nvGrpSpPr>
          <p:grpSpPr>
            <a:xfrm>
              <a:off x="840880" y="4718150"/>
              <a:ext cx="637200" cy="597084"/>
              <a:chOff x="1932280" y="1331475"/>
              <a:chExt cx="637200" cy="597084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4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4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4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4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4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4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4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4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4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" name="Google Shape;330;p14"/>
            <p:cNvGrpSpPr/>
            <p:nvPr/>
          </p:nvGrpSpPr>
          <p:grpSpPr>
            <a:xfrm>
              <a:off x="-49429" y="3983121"/>
              <a:ext cx="588491" cy="951052"/>
              <a:chOff x="1062996" y="1340396"/>
              <a:chExt cx="588491" cy="951052"/>
            </a:xfrm>
          </p:grpSpPr>
          <p:sp>
            <p:nvSpPr>
              <p:cNvPr id="331" name="Google Shape;331;p14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4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4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7" name="Google Shape;337;p14"/>
          <p:cNvGrpSpPr/>
          <p:nvPr/>
        </p:nvGrpSpPr>
        <p:grpSpPr>
          <a:xfrm>
            <a:off x="393327" y="100000"/>
            <a:ext cx="8498675" cy="4378045"/>
            <a:chOff x="393327" y="100000"/>
            <a:chExt cx="8498675" cy="4378045"/>
          </a:xfrm>
        </p:grpSpPr>
        <p:sp>
          <p:nvSpPr>
            <p:cNvPr id="338" name="Google Shape;338;p14"/>
            <p:cNvSpPr/>
            <p:nvPr/>
          </p:nvSpPr>
          <p:spPr>
            <a:xfrm>
              <a:off x="393327" y="415564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8565327" y="3782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8246200" y="10000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" name="Google Shape;502;p21"/>
          <p:cNvGrpSpPr/>
          <p:nvPr/>
        </p:nvGrpSpPr>
        <p:grpSpPr>
          <a:xfrm>
            <a:off x="-1830171" y="-3026103"/>
            <a:ext cx="12553533" cy="10802628"/>
            <a:chOff x="-1830171" y="-3026103"/>
            <a:chExt cx="12553533" cy="10802628"/>
          </a:xfrm>
        </p:grpSpPr>
        <p:sp>
          <p:nvSpPr>
            <p:cNvPr id="503" name="Google Shape;503;p21"/>
            <p:cNvSpPr/>
            <p:nvPr/>
          </p:nvSpPr>
          <p:spPr>
            <a:xfrm rot="-8306489">
              <a:off x="-1335943" y="4230903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 rot="-2526298">
              <a:off x="3261380" y="-2302624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21"/>
            <p:cNvSpPr/>
            <p:nvPr/>
          </p:nvSpPr>
          <p:spPr>
            <a:xfrm rot="7128936">
              <a:off x="4743736" y="-769468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6" name="Google Shape;506;p21"/>
          <p:cNvSpPr txBox="1">
            <a:spLocks noGrp="1"/>
          </p:cNvSpPr>
          <p:nvPr>
            <p:ph type="title"/>
          </p:nvPr>
        </p:nvSpPr>
        <p:spPr>
          <a:xfrm>
            <a:off x="713263" y="6775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7" name="Google Shape;507;p21"/>
          <p:cNvSpPr txBox="1">
            <a:spLocks noGrp="1"/>
          </p:cNvSpPr>
          <p:nvPr>
            <p:ph type="subTitle" idx="1"/>
          </p:nvPr>
        </p:nvSpPr>
        <p:spPr>
          <a:xfrm>
            <a:off x="713225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8" name="Google Shape;508;p21"/>
          <p:cNvSpPr txBox="1"/>
          <p:nvPr/>
        </p:nvSpPr>
        <p:spPr>
          <a:xfrm>
            <a:off x="713225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2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2"/>
          <p:cNvGrpSpPr/>
          <p:nvPr/>
        </p:nvGrpSpPr>
        <p:grpSpPr>
          <a:xfrm>
            <a:off x="-2106233" y="-952769"/>
            <a:ext cx="12545486" cy="8509944"/>
            <a:chOff x="-2106233" y="-952769"/>
            <a:chExt cx="12545486" cy="8509944"/>
          </a:xfrm>
        </p:grpSpPr>
        <p:sp>
          <p:nvSpPr>
            <p:cNvPr id="511" name="Google Shape;511;p22"/>
            <p:cNvSpPr/>
            <p:nvPr/>
          </p:nvSpPr>
          <p:spPr>
            <a:xfrm rot="7341459" flipH="1">
              <a:off x="-1767562" y="4061175"/>
              <a:ext cx="3409980" cy="2678150"/>
            </a:xfrm>
            <a:custGeom>
              <a:avLst/>
              <a:gdLst/>
              <a:ahLst/>
              <a:cxnLst/>
              <a:rect l="l" t="t" r="r" b="b"/>
              <a:pathLst>
                <a:path w="4074" h="3197" extrusionOk="0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2"/>
            <p:cNvSpPr/>
            <p:nvPr/>
          </p:nvSpPr>
          <p:spPr>
            <a:xfrm rot="10245665">
              <a:off x="8058163" y="-784291"/>
              <a:ext cx="2247692" cy="1843349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2"/>
          <p:cNvGrpSpPr/>
          <p:nvPr/>
        </p:nvGrpSpPr>
        <p:grpSpPr>
          <a:xfrm>
            <a:off x="1087005" y="172450"/>
            <a:ext cx="7905012" cy="4753945"/>
            <a:chOff x="1087005" y="172450"/>
            <a:chExt cx="7905012" cy="4753945"/>
          </a:xfrm>
        </p:grpSpPr>
        <p:sp>
          <p:nvSpPr>
            <p:cNvPr id="514" name="Google Shape;514;p22"/>
            <p:cNvSpPr/>
            <p:nvPr/>
          </p:nvSpPr>
          <p:spPr>
            <a:xfrm flipH="1">
              <a:off x="1087005" y="46039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 flipH="1">
              <a:off x="8665343" y="770495"/>
              <a:ext cx="326675" cy="32240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2"/>
            <p:cNvSpPr/>
            <p:nvPr/>
          </p:nvSpPr>
          <p:spPr>
            <a:xfrm flipH="1">
              <a:off x="8430782" y="172450"/>
              <a:ext cx="184575" cy="18215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22"/>
          <p:cNvGrpSpPr/>
          <p:nvPr/>
        </p:nvGrpSpPr>
        <p:grpSpPr>
          <a:xfrm>
            <a:off x="-335165" y="3759862"/>
            <a:ext cx="1253120" cy="1142272"/>
            <a:chOff x="-335165" y="3759862"/>
            <a:chExt cx="1253120" cy="1142272"/>
          </a:xfrm>
        </p:grpSpPr>
        <p:grpSp>
          <p:nvGrpSpPr>
            <p:cNvPr id="518" name="Google Shape;518;p22"/>
            <p:cNvGrpSpPr/>
            <p:nvPr/>
          </p:nvGrpSpPr>
          <p:grpSpPr>
            <a:xfrm flipH="1">
              <a:off x="510249" y="4497559"/>
              <a:ext cx="407706" cy="388498"/>
              <a:chOff x="2884583" y="645291"/>
              <a:chExt cx="285089" cy="271696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" name="Google Shape;521;p22"/>
            <p:cNvGrpSpPr/>
            <p:nvPr/>
          </p:nvGrpSpPr>
          <p:grpSpPr>
            <a:xfrm>
              <a:off x="-335165" y="3759862"/>
              <a:ext cx="676370" cy="1142272"/>
              <a:chOff x="2757910" y="1240337"/>
              <a:chExt cx="676370" cy="1142272"/>
            </a:xfrm>
          </p:grpSpPr>
          <p:sp>
            <p:nvSpPr>
              <p:cNvPr id="522" name="Google Shape;522;p22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3"/>
          <p:cNvGrpSpPr/>
          <p:nvPr/>
        </p:nvGrpSpPr>
        <p:grpSpPr>
          <a:xfrm>
            <a:off x="-2000071" y="-3048428"/>
            <a:ext cx="12973783" cy="11115125"/>
            <a:chOff x="-2000071" y="-3048428"/>
            <a:chExt cx="12973783" cy="11115125"/>
          </a:xfrm>
        </p:grpSpPr>
        <p:sp>
          <p:nvSpPr>
            <p:cNvPr id="532" name="Google Shape;532;p23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avLst/>
              <a:gdLst/>
              <a:ahLst/>
              <a:cxnLst/>
              <a:rect l="l" t="t" r="r" b="b"/>
              <a:pathLst>
                <a:path w="1640321" h="1345239" extrusionOk="0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avLst/>
              <a:gdLst/>
              <a:ahLst/>
              <a:cxnLst/>
              <a:rect l="l" t="t" r="r" b="b"/>
              <a:pathLst>
                <a:path w="1480978" h="1263926" extrusionOk="0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3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avLst/>
              <a:gdLst/>
              <a:ahLst/>
              <a:cxnLst/>
              <a:rect l="l" t="t" r="r" b="b"/>
              <a:pathLst>
                <a:path w="616186" h="397857" extrusionOk="0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4039126" y="812484"/>
            <a:ext cx="4161347" cy="3655602"/>
            <a:chOff x="3840701" y="713259"/>
            <a:chExt cx="4161347" cy="3655602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4501506" y="1401751"/>
              <a:ext cx="2461134" cy="1589525"/>
              <a:chOff x="2436192" y="2730596"/>
              <a:chExt cx="924300" cy="59696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3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6621346" y="1957399"/>
              <a:ext cx="1380702" cy="2411461"/>
              <a:chOff x="6502296" y="1615124"/>
              <a:chExt cx="1380702" cy="2411461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avLst/>
                <a:gdLst/>
                <a:ahLst/>
                <a:cxnLst/>
                <a:rect l="l" t="t" r="r" b="b"/>
                <a:pathLst>
                  <a:path w="15852" h="19458" extrusionOk="0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550" name="Google Shape;550;p23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avLst/>
                <a:gdLst/>
                <a:ahLst/>
                <a:cxnLst/>
                <a:rect l="l" t="t" r="r" b="b"/>
                <a:pathLst>
                  <a:path w="506" h="334" extrusionOk="0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avLst/>
                <a:gdLst/>
                <a:ahLst/>
                <a:cxnLst/>
                <a:rect l="l" t="t" r="r" b="b"/>
                <a:pathLst>
                  <a:path w="914" h="1439" extrusionOk="0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avLst/>
                <a:gdLst/>
                <a:ahLst/>
                <a:cxnLst/>
                <a:rect l="l" t="t" r="r" b="b"/>
                <a:pathLst>
                  <a:path w="477" h="641" extrusionOk="0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47" h="305" extrusionOk="0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avLst/>
                <a:gdLst/>
                <a:ahLst/>
                <a:cxnLst/>
                <a:rect l="l" t="t" r="r" b="b"/>
                <a:pathLst>
                  <a:path w="350" h="305" extrusionOk="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avLst/>
                <a:gdLst/>
                <a:ahLst/>
                <a:cxnLst/>
                <a:rect l="l" t="t" r="r" b="b"/>
                <a:pathLst>
                  <a:path w="373" h="258" extrusionOk="0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avLst/>
                <a:gdLst/>
                <a:ahLst/>
                <a:cxnLst/>
                <a:rect l="l" t="t" r="r" b="b"/>
                <a:pathLst>
                  <a:path w="615" h="582" extrusionOk="0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avLst/>
                <a:gdLst/>
                <a:ahLst/>
                <a:cxnLst/>
                <a:rect l="l" t="t" r="r" b="b"/>
                <a:pathLst>
                  <a:path w="271" h="80" extrusionOk="0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avLst/>
                <a:gdLst/>
                <a:ahLst/>
                <a:cxnLst/>
                <a:rect l="l" t="t" r="r" b="b"/>
                <a:pathLst>
                  <a:path w="443" h="498" extrusionOk="0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59" extrusionOk="0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avLst/>
                <a:gdLst/>
                <a:ahLst/>
                <a:cxnLst/>
                <a:rect l="l" t="t" r="r" b="b"/>
                <a:pathLst>
                  <a:path w="37" h="3" extrusionOk="0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avLst/>
                <a:gdLst/>
                <a:ahLst/>
                <a:cxnLst/>
                <a:rect l="l" t="t" r="r" b="b"/>
                <a:pathLst>
                  <a:path w="112" h="81" extrusionOk="0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avLst/>
                <a:gdLst/>
                <a:ahLst/>
                <a:cxnLst/>
                <a:rect l="l" t="t" r="r" b="b"/>
                <a:pathLst>
                  <a:path w="8" h="72" extrusionOk="0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4" name="Google Shape;564;p23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65" name="Google Shape;565;p23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avLst/>
                <a:gdLst/>
                <a:ahLst/>
                <a:cxnLst/>
                <a:rect l="l" t="t" r="r" b="b"/>
                <a:pathLst>
                  <a:path w="36" h="76" extrusionOk="0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avLst/>
                <a:gdLst/>
                <a:ahLst/>
                <a:cxnLst/>
                <a:rect l="l" t="t" r="r" b="b"/>
                <a:pathLst>
                  <a:path w="69" h="180" extrusionOk="0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avLst/>
                <a:gdLst/>
                <a:ahLst/>
                <a:cxnLst/>
                <a:rect l="l" t="t" r="r" b="b"/>
                <a:pathLst>
                  <a:path w="181" h="227" extrusionOk="0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avLst/>
                <a:gdLst/>
                <a:ahLst/>
                <a:cxnLst/>
                <a:rect l="l" t="t" r="r" b="b"/>
                <a:pathLst>
                  <a:path w="221" h="287" extrusionOk="0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avLst/>
                <a:gdLst/>
                <a:ahLst/>
                <a:cxnLst/>
                <a:rect l="l" t="t" r="r" b="b"/>
                <a:pathLst>
                  <a:path w="114" h="138" extrusionOk="0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avLst/>
                <a:gdLst/>
                <a:ahLst/>
                <a:cxnLst/>
                <a:rect l="l" t="t" r="r" b="b"/>
                <a:pathLst>
                  <a:path w="133" h="131" extrusionOk="0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avLst/>
                <a:gdLst/>
                <a:ahLst/>
                <a:cxnLst/>
                <a:rect l="l" t="t" r="r" b="b"/>
                <a:pathLst>
                  <a:path w="68" h="57" extrusionOk="0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60" h="12" extrusionOk="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avLst/>
                <a:gdLst/>
                <a:ahLst/>
                <a:cxnLst/>
                <a:rect l="l" t="t" r="r" b="b"/>
                <a:pathLst>
                  <a:path w="71" h="12" extrusionOk="0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avLst/>
                <a:gdLst/>
                <a:ahLst/>
                <a:cxnLst/>
                <a:rect l="l" t="t" r="r" b="b"/>
                <a:pathLst>
                  <a:path w="58" h="16" extrusionOk="0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avLst/>
                <a:gdLst/>
                <a:ahLst/>
                <a:cxnLst/>
                <a:rect l="l" t="t" r="r" b="b"/>
                <a:pathLst>
                  <a:path w="1" h="6" extrusionOk="0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avLst/>
                <a:gdLst/>
                <a:ahLst/>
                <a:cxnLst/>
                <a:rect l="l" t="t" r="r" b="b"/>
                <a:pathLst>
                  <a:path w="461" h="573" extrusionOk="0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avLst/>
                <a:gdLst/>
                <a:ahLst/>
                <a:cxnLst/>
                <a:rect l="l" t="t" r="r" b="b"/>
                <a:pathLst>
                  <a:path w="74" h="325" extrusionOk="0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avLst/>
                <a:gdLst/>
                <a:ahLst/>
                <a:cxnLst/>
                <a:rect l="l" t="t" r="r" b="b"/>
                <a:pathLst>
                  <a:path w="496" h="662" extrusionOk="0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avLst/>
                <a:gdLst/>
                <a:ahLst/>
                <a:cxnLst/>
                <a:rect l="l" t="t" r="r" b="b"/>
                <a:pathLst>
                  <a:path w="922" h="1380" extrusionOk="0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avLst/>
                <a:gdLst/>
                <a:ahLst/>
                <a:cxnLst/>
                <a:rect l="l" t="t" r="r" b="b"/>
                <a:pathLst>
                  <a:path w="140" h="269" extrusionOk="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25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avLst/>
                <a:gdLst/>
                <a:ahLst/>
                <a:cxnLst/>
                <a:rect l="l" t="t" r="r" b="b"/>
                <a:pathLst>
                  <a:path w="131" h="69" extrusionOk="0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avLst/>
                <a:gdLst/>
                <a:ahLst/>
                <a:cxnLst/>
                <a:rect l="l" t="t" r="r" b="b"/>
                <a:pathLst>
                  <a:path w="270" h="330" extrusionOk="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avLst/>
                <a:gdLst/>
                <a:ahLst/>
                <a:cxnLst/>
                <a:rect l="l" t="t" r="r" b="b"/>
                <a:pathLst>
                  <a:path w="49" h="24" extrusionOk="0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avLst/>
                <a:gdLst/>
                <a:ahLst/>
                <a:cxnLst/>
                <a:rect l="l" t="t" r="r" b="b"/>
                <a:pathLst>
                  <a:path w="18" h="19" extrusionOk="0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avLst/>
                <a:gdLst/>
                <a:ahLst/>
                <a:cxnLst/>
                <a:rect l="l" t="t" r="r" b="b"/>
                <a:pathLst>
                  <a:path w="28" h="50" extrusionOk="0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avLst/>
                <a:gdLst/>
                <a:ahLst/>
                <a:cxnLst/>
                <a:rect l="l" t="t" r="r" b="b"/>
                <a:pathLst>
                  <a:path w="69" h="73" extrusionOk="0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avLst/>
                <a:gdLst/>
                <a:ahLst/>
                <a:cxnLst/>
                <a:rect l="l" t="t" r="r" b="b"/>
                <a:pathLst>
                  <a:path w="55" h="54" extrusionOk="0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avLst/>
                <a:gdLst/>
                <a:ahLst/>
                <a:cxnLst/>
                <a:rect l="l" t="t" r="r" b="b"/>
                <a:pathLst>
                  <a:path w="74" h="145" extrusionOk="0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avLst/>
                <a:gdLst/>
                <a:ahLst/>
                <a:cxnLst/>
                <a:rect l="l" t="t" r="r" b="b"/>
                <a:pathLst>
                  <a:path w="38" h="30" extrusionOk="0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avLst/>
                <a:gdLst/>
                <a:ahLst/>
                <a:cxnLst/>
                <a:rect l="l" t="t" r="r" b="b"/>
                <a:pathLst>
                  <a:path w="344" h="218" extrusionOk="0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avLst/>
                <a:gdLst/>
                <a:ahLst/>
                <a:cxnLst/>
                <a:rect l="l" t="t" r="r" b="b"/>
                <a:pathLst>
                  <a:path w="44" h="237" extrusionOk="0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avLst/>
                <a:gdLst/>
                <a:ahLst/>
                <a:cxnLst/>
                <a:rect l="l" t="t" r="r" b="b"/>
                <a:pathLst>
                  <a:path w="362" h="501" extrusionOk="0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avLst/>
                <a:gdLst/>
                <a:ahLst/>
                <a:cxnLst/>
                <a:rect l="l" t="t" r="r" b="b"/>
                <a:pathLst>
                  <a:path w="192" h="230" extrusionOk="0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avLst/>
                <a:gdLst/>
                <a:ahLst/>
                <a:cxnLst/>
                <a:rect l="l" t="t" r="r" b="b"/>
                <a:pathLst>
                  <a:path w="30" h="53" extrusionOk="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5350825" y="945922"/>
              <a:ext cx="669524" cy="947131"/>
              <a:chOff x="6000261" y="1225220"/>
              <a:chExt cx="627600" cy="887824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23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612" name="Google Shape;612;p23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avLst/>
                <a:gdLst/>
                <a:ahLst/>
                <a:cxnLst/>
                <a:rect l="l" t="t" r="r" b="b"/>
                <a:pathLst>
                  <a:path w="313" h="487" extrusionOk="0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avLst/>
                <a:gdLst/>
                <a:ahLst/>
                <a:cxnLst/>
                <a:rect l="l" t="t" r="r" b="b"/>
                <a:pathLst>
                  <a:path w="115" h="141" extrusionOk="0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avLst/>
                <a:gdLst/>
                <a:ahLst/>
                <a:cxnLst/>
                <a:rect l="l" t="t" r="r" b="b"/>
                <a:pathLst>
                  <a:path w="18" h="20" extrusionOk="0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3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avLst/>
                <a:gdLst/>
                <a:ahLst/>
                <a:cxnLst/>
                <a:rect l="l" t="t" r="r" b="b"/>
                <a:pathLst>
                  <a:path w="93" h="220" extrusionOk="0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3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avLst/>
                <a:gdLst/>
                <a:ahLst/>
                <a:cxnLst/>
                <a:rect l="l" t="t" r="r" b="b"/>
                <a:pathLst>
                  <a:path w="85" h="71" extrusionOk="0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3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avLst/>
                <a:gdLst/>
                <a:ahLst/>
                <a:cxnLst/>
                <a:rect l="l" t="t" r="r" b="b"/>
                <a:pathLst>
                  <a:path w="879" h="1325" extrusionOk="0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avLst/>
                <a:gdLst/>
                <a:ahLst/>
                <a:cxnLst/>
                <a:rect l="l" t="t" r="r" b="b"/>
                <a:pathLst>
                  <a:path w="879" h="439" extrusionOk="0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384" h="170" extrusionOk="0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avLst/>
                <a:gdLst/>
                <a:ahLst/>
                <a:cxnLst/>
                <a:rect l="l" t="t" r="r" b="b"/>
                <a:pathLst>
                  <a:path w="248" h="170" extrusionOk="0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7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7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5" h="106" extrusionOk="0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avLst/>
                <a:gdLst/>
                <a:ahLst/>
                <a:cxnLst/>
                <a:rect l="l" t="t" r="r" b="b"/>
                <a:pathLst>
                  <a:path w="156" h="106" extrusionOk="0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avLst/>
                <a:gdLst/>
                <a:ahLst/>
                <a:cxnLst/>
                <a:rect l="l" t="t" r="r" b="b"/>
                <a:pathLst>
                  <a:path w="156" h="247" extrusionOk="0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41" h="74" extrusionOk="0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avLst/>
                <a:gdLst/>
                <a:ahLst/>
                <a:cxnLst/>
                <a:rect l="l" t="t" r="r" b="b"/>
                <a:pathLst>
                  <a:path w="106" h="74" extrusionOk="0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avLst/>
                <a:gdLst/>
                <a:ahLst/>
                <a:cxnLst/>
                <a:rect l="l" t="t" r="r" b="b"/>
                <a:pathLst>
                  <a:path w="261" h="58" extrusionOk="0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23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50" name="Google Shape;650;p23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23"/>
            <p:cNvSpPr/>
            <p:nvPr/>
          </p:nvSpPr>
          <p:spPr>
            <a:xfrm>
              <a:off x="3840701" y="867524"/>
              <a:ext cx="531600" cy="876850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6535672" y="3138738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627753" y="3138762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0" r:id="rId4"/>
    <p:sldLayoutId id="2147483667" r:id="rId5"/>
    <p:sldLayoutId id="2147483668" r:id="rId6"/>
    <p:sldLayoutId id="2147483669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F1A495B-A6A4-710A-7796-F8B8D8732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15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7"/>
          <p:cNvSpPr txBox="1">
            <a:spLocks noGrp="1"/>
          </p:cNvSpPr>
          <p:nvPr>
            <p:ph type="ctrTitle"/>
          </p:nvPr>
        </p:nvSpPr>
        <p:spPr>
          <a:xfrm>
            <a:off x="137160" y="2634850"/>
            <a:ext cx="4438565" cy="1385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dirty="0">
                <a:latin typeface="Anaheim" panose="020B0604020202020204" charset="0"/>
              </a:rPr>
              <a:t>Employee Attrition Analysis</a:t>
            </a:r>
            <a:endParaRPr sz="4000" dirty="0">
              <a:latin typeface="Anaheim" panose="020B0604020202020204" charset="0"/>
            </a:endParaRPr>
          </a:p>
        </p:txBody>
      </p:sp>
      <p:sp>
        <p:nvSpPr>
          <p:cNvPr id="667" name="Google Shape;667;p27"/>
          <p:cNvSpPr txBox="1">
            <a:spLocks noGrp="1"/>
          </p:cNvSpPr>
          <p:nvPr>
            <p:ph type="subTitle" idx="1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Insights for HR Decision-making</a:t>
            </a:r>
            <a:endParaRPr dirty="0"/>
          </a:p>
        </p:txBody>
      </p:sp>
      <p:grpSp>
        <p:nvGrpSpPr>
          <p:cNvPr id="669" name="Google Shape;669;p27"/>
          <p:cNvGrpSpPr/>
          <p:nvPr/>
        </p:nvGrpSpPr>
        <p:grpSpPr>
          <a:xfrm>
            <a:off x="4765672" y="760436"/>
            <a:ext cx="3246799" cy="3446635"/>
            <a:chOff x="4765672" y="760436"/>
            <a:chExt cx="3246799" cy="3446635"/>
          </a:xfrm>
        </p:grpSpPr>
        <p:sp>
          <p:nvSpPr>
            <p:cNvPr id="670" name="Google Shape;670;p27"/>
            <p:cNvSpPr/>
            <p:nvPr/>
          </p:nvSpPr>
          <p:spPr>
            <a:xfrm>
              <a:off x="4980353" y="1104437"/>
              <a:ext cx="653350" cy="644790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1" name="Google Shape;671;p27"/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72" name="Google Shape;672;p27"/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7"/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avLst/>
                <a:gdLst/>
                <a:ahLst/>
                <a:cxnLst/>
                <a:rect l="l" t="t" r="r" b="b"/>
                <a:pathLst>
                  <a:path w="2512" h="153" extrusionOk="0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7"/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7"/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27"/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27"/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7"/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7"/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7"/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7"/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67" extrusionOk="0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7"/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avLst/>
                <a:gdLst/>
                <a:ahLst/>
                <a:cxnLst/>
                <a:rect l="l" t="t" r="r" b="b"/>
                <a:pathLst>
                  <a:path w="2266" h="1022" extrusionOk="0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27"/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84" name="Google Shape;684;p27"/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7"/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7"/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7"/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7"/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27"/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27"/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7"/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7"/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7"/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7"/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7"/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6" name="Google Shape;696;p27"/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7" name="Google Shape;697;p27"/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7"/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avLst/>
                <a:gdLst/>
                <a:ahLst/>
                <a:cxnLst/>
                <a:rect l="l" t="t" r="r" b="b"/>
                <a:pathLst>
                  <a:path w="718" h="78" extrusionOk="0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7"/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7"/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7"/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7"/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27"/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27"/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27"/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avLst/>
                <a:gdLst/>
                <a:ahLst/>
                <a:cxnLst/>
                <a:rect l="l" t="t" r="r" b="b"/>
                <a:pathLst>
                  <a:path w="352" h="353" extrusionOk="0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27"/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7"/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7"/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7"/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0" name="Google Shape;710;p27"/>
            <p:cNvSpPr/>
            <p:nvPr/>
          </p:nvSpPr>
          <p:spPr>
            <a:xfrm>
              <a:off x="5914065" y="760436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7"/>
            <p:cNvSpPr/>
            <p:nvPr/>
          </p:nvSpPr>
          <p:spPr>
            <a:xfrm>
              <a:off x="7710871" y="1262143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2" name="Google Shape;712;p27"/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13" name="Google Shape;713;p27"/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7"/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avLst/>
                <a:gdLst/>
                <a:ahLst/>
                <a:cxnLst/>
                <a:rect l="l" t="t" r="r" b="b"/>
                <a:pathLst>
                  <a:path w="446" h="206" extrusionOk="0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7"/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avLst/>
                <a:gdLst/>
                <a:ahLst/>
                <a:cxnLst/>
                <a:rect l="l" t="t" r="r" b="b"/>
                <a:pathLst>
                  <a:path w="734" h="1232" extrusionOk="0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7"/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avLst/>
                <a:gdLst/>
                <a:ahLst/>
                <a:cxnLst/>
                <a:rect l="l" t="t" r="r" b="b"/>
                <a:pathLst>
                  <a:path w="374" h="743" extrusionOk="0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7"/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7"/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avLst/>
                <a:gdLst/>
                <a:ahLst/>
                <a:cxnLst/>
                <a:rect l="l" t="t" r="r" b="b"/>
                <a:pathLst>
                  <a:path w="124" h="448" extrusionOk="0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7"/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avLst/>
                <a:gdLst/>
                <a:ahLst/>
                <a:cxnLst/>
                <a:rect l="l" t="t" r="r" b="b"/>
                <a:pathLst>
                  <a:path w="569" h="887" extrusionOk="0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7"/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avLst/>
                <a:gdLst/>
                <a:ahLst/>
                <a:cxnLst/>
                <a:rect l="l" t="t" r="r" b="b"/>
                <a:pathLst>
                  <a:path w="408" h="470" extrusionOk="0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7"/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7"/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7"/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7"/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76" extrusionOk="0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7"/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avLst/>
                <a:gdLst/>
                <a:ahLst/>
                <a:cxnLst/>
                <a:rect l="l" t="t" r="r" b="b"/>
                <a:pathLst>
                  <a:path w="63" h="78" extrusionOk="0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7"/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avLst/>
                <a:gdLst/>
                <a:ahLst/>
                <a:cxnLst/>
                <a:rect l="l" t="t" r="r" b="b"/>
                <a:pathLst>
                  <a:path w="45" h="61" extrusionOk="0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7"/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avLst/>
                <a:gdLst/>
                <a:ahLst/>
                <a:cxnLst/>
                <a:rect l="l" t="t" r="r" b="b"/>
                <a:pathLst>
                  <a:path w="613" h="687" extrusionOk="0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7"/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7"/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7"/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avLst/>
                <a:gdLst/>
                <a:ahLst/>
                <a:cxnLst/>
                <a:rect l="l" t="t" r="r" b="b"/>
                <a:pathLst>
                  <a:path w="105" h="37" extrusionOk="0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7"/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avLst/>
                <a:gdLst/>
                <a:ahLst/>
                <a:cxnLst/>
                <a:rect l="l" t="t" r="r" b="b"/>
                <a:pathLst>
                  <a:path w="611" h="335" extrusionOk="0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7"/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7"/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avLst/>
                <a:gdLst/>
                <a:ahLst/>
                <a:cxnLst/>
                <a:rect l="l" t="t" r="r" b="b"/>
                <a:pathLst>
                  <a:path w="218" h="178" extrusionOk="0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7"/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7"/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7"/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27"/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27"/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27"/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27"/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27"/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27"/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avLst/>
                <a:gdLst/>
                <a:ahLst/>
                <a:cxnLst/>
                <a:rect l="l" t="t" r="r" b="b"/>
                <a:pathLst>
                  <a:path w="33" h="34" extrusionOk="0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27"/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4" name="Google Shape;744;p27"/>
            <p:cNvSpPr/>
            <p:nvPr/>
          </p:nvSpPr>
          <p:spPr>
            <a:xfrm>
              <a:off x="6208623" y="3034516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27"/>
            <p:cNvSpPr/>
            <p:nvPr/>
          </p:nvSpPr>
          <p:spPr>
            <a:xfrm>
              <a:off x="4765672" y="18636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9"/>
          <p:cNvSpPr txBox="1">
            <a:spLocks noGrp="1"/>
          </p:cNvSpPr>
          <p:nvPr>
            <p:ph type="subTitle" idx="13"/>
          </p:nvPr>
        </p:nvSpPr>
        <p:spPr>
          <a:xfrm>
            <a:off x="5358435" y="980737"/>
            <a:ext cx="2958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Anaheim" panose="020B0604020202020204" charset="0"/>
              </a:rPr>
              <a:t>Hypothesis</a:t>
            </a:r>
            <a:endParaRPr dirty="0">
              <a:latin typeface="Anaheim" panose="020B0604020202020204" charset="0"/>
            </a:endParaRPr>
          </a:p>
        </p:txBody>
      </p:sp>
      <p:sp>
        <p:nvSpPr>
          <p:cNvPr id="760" name="Google Shape;760;p29"/>
          <p:cNvSpPr txBox="1">
            <a:spLocks noGrp="1"/>
          </p:cNvSpPr>
          <p:nvPr>
            <p:ph type="title" idx="5"/>
          </p:nvPr>
        </p:nvSpPr>
        <p:spPr>
          <a:xfrm>
            <a:off x="1014495" y="1176124"/>
            <a:ext cx="66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761" name="Google Shape;761;p29"/>
          <p:cNvSpPr txBox="1">
            <a:spLocks noGrp="1"/>
          </p:cNvSpPr>
          <p:nvPr>
            <p:ph type="subTitle" idx="9"/>
          </p:nvPr>
        </p:nvSpPr>
        <p:spPr>
          <a:xfrm>
            <a:off x="1829504" y="1099679"/>
            <a:ext cx="2958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Anaheim" panose="020B0604020202020204" charset="0"/>
              </a:rPr>
              <a:t>Introduction</a:t>
            </a:r>
            <a:endParaRPr dirty="0">
              <a:latin typeface="Anaheim" panose="020B0604020202020204" charset="0"/>
            </a:endParaRPr>
          </a:p>
        </p:txBody>
      </p:sp>
      <p:sp>
        <p:nvSpPr>
          <p:cNvPr id="762" name="Google Shape;762;p29"/>
          <p:cNvSpPr txBox="1">
            <a:spLocks noGrp="1"/>
          </p:cNvSpPr>
          <p:nvPr>
            <p:ph type="subTitle" idx="15"/>
          </p:nvPr>
        </p:nvSpPr>
        <p:spPr>
          <a:xfrm>
            <a:off x="5358435" y="2577104"/>
            <a:ext cx="29580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Anaheim" panose="020B0604020202020204" charset="0"/>
              </a:rPr>
              <a:t>Analysis</a:t>
            </a:r>
            <a:endParaRPr dirty="0">
              <a:latin typeface="Anaheim" panose="020B0604020202020204" charset="0"/>
            </a:endParaRPr>
          </a:p>
        </p:txBody>
      </p:sp>
      <p:sp>
        <p:nvSpPr>
          <p:cNvPr id="763" name="Google Shape;763;p29"/>
          <p:cNvSpPr txBox="1">
            <a:spLocks noGrp="1"/>
          </p:cNvSpPr>
          <p:nvPr>
            <p:ph type="title"/>
          </p:nvPr>
        </p:nvSpPr>
        <p:spPr>
          <a:xfrm>
            <a:off x="217080" y="11660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naheim" panose="020B0604020202020204" charset="0"/>
              </a:rPr>
              <a:t>Table of contents</a:t>
            </a:r>
            <a:endParaRPr dirty="0">
              <a:latin typeface="Anaheim" panose="020B0604020202020204" charset="0"/>
            </a:endParaRPr>
          </a:p>
        </p:txBody>
      </p:sp>
      <p:sp>
        <p:nvSpPr>
          <p:cNvPr id="765" name="Google Shape;765;p29"/>
          <p:cNvSpPr txBox="1">
            <a:spLocks noGrp="1"/>
          </p:cNvSpPr>
          <p:nvPr>
            <p:ph type="subTitle" idx="1"/>
          </p:nvPr>
        </p:nvSpPr>
        <p:spPr>
          <a:xfrm>
            <a:off x="1829504" y="1727298"/>
            <a:ext cx="238410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dirty="0">
                <a:latin typeface="Anaheim" panose="020B0604020202020204" charset="0"/>
              </a:rPr>
              <a:t>Literature Survey</a:t>
            </a:r>
            <a:endParaRPr sz="2100" dirty="0">
              <a:latin typeface="Anaheim" panose="020B0604020202020204" charset="0"/>
            </a:endParaRPr>
          </a:p>
        </p:txBody>
      </p:sp>
      <p:sp>
        <p:nvSpPr>
          <p:cNvPr id="766" name="Google Shape;766;p29"/>
          <p:cNvSpPr txBox="1">
            <a:spLocks noGrp="1"/>
          </p:cNvSpPr>
          <p:nvPr>
            <p:ph type="subTitle" idx="2"/>
          </p:nvPr>
        </p:nvSpPr>
        <p:spPr>
          <a:xfrm>
            <a:off x="5358435" y="1726480"/>
            <a:ext cx="295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100" dirty="0">
                <a:latin typeface="Anaheim" panose="020B0604020202020204" charset="0"/>
              </a:rPr>
              <a:t>Objectives</a:t>
            </a:r>
            <a:endParaRPr sz="2100" dirty="0">
              <a:latin typeface="Anaheim" panose="020B0604020202020204" charset="0"/>
            </a:endParaRPr>
          </a:p>
        </p:txBody>
      </p:sp>
      <p:sp>
        <p:nvSpPr>
          <p:cNvPr id="768" name="Google Shape;768;p29"/>
          <p:cNvSpPr txBox="1">
            <a:spLocks noGrp="1"/>
          </p:cNvSpPr>
          <p:nvPr>
            <p:ph type="title" idx="6"/>
          </p:nvPr>
        </p:nvSpPr>
        <p:spPr>
          <a:xfrm>
            <a:off x="1062935" y="2682814"/>
            <a:ext cx="6675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769" name="Google Shape;769;p29"/>
          <p:cNvSpPr txBox="1">
            <a:spLocks noGrp="1"/>
          </p:cNvSpPr>
          <p:nvPr>
            <p:ph type="title" idx="7"/>
          </p:nvPr>
        </p:nvSpPr>
        <p:spPr>
          <a:xfrm>
            <a:off x="1016895" y="1865049"/>
            <a:ext cx="665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770" name="Google Shape;770;p29"/>
          <p:cNvSpPr txBox="1">
            <a:spLocks noGrp="1"/>
          </p:cNvSpPr>
          <p:nvPr>
            <p:ph type="title" idx="8"/>
          </p:nvPr>
        </p:nvSpPr>
        <p:spPr>
          <a:xfrm>
            <a:off x="4634800" y="1116724"/>
            <a:ext cx="6651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771" name="Google Shape;771;p29"/>
          <p:cNvSpPr txBox="1">
            <a:spLocks noGrp="1"/>
          </p:cNvSpPr>
          <p:nvPr>
            <p:ph type="subTitle" idx="14"/>
          </p:nvPr>
        </p:nvSpPr>
        <p:spPr>
          <a:xfrm>
            <a:off x="1829504" y="2620283"/>
            <a:ext cx="2958000" cy="36124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latin typeface="Anaheim" panose="020B0604020202020204" charset="0"/>
              </a:rPr>
              <a:t>Research Gaps</a:t>
            </a:r>
            <a:endParaRPr dirty="0">
              <a:latin typeface="Anaheim" panose="020B0604020202020204" charset="0"/>
            </a:endParaRPr>
          </a:p>
        </p:txBody>
      </p:sp>
      <p:sp>
        <p:nvSpPr>
          <p:cNvPr id="4" name="Google Shape;770;p29">
            <a:extLst>
              <a:ext uri="{FF2B5EF4-FFF2-40B4-BE49-F238E27FC236}">
                <a16:creationId xmlns:a16="http://schemas.microsoft.com/office/drawing/2014/main" id="{3E705FB9-25E6-83BF-92DF-98FD669FB930}"/>
              </a:ext>
            </a:extLst>
          </p:cNvPr>
          <p:cNvSpPr txBox="1">
            <a:spLocks/>
          </p:cNvSpPr>
          <p:nvPr/>
        </p:nvSpPr>
        <p:spPr>
          <a:xfrm>
            <a:off x="4634800" y="1889654"/>
            <a:ext cx="6651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5" name="Google Shape;770;p29">
            <a:extLst>
              <a:ext uri="{FF2B5EF4-FFF2-40B4-BE49-F238E27FC236}">
                <a16:creationId xmlns:a16="http://schemas.microsoft.com/office/drawing/2014/main" id="{F912301E-0E60-B259-63B0-8FF0D20A258F}"/>
              </a:ext>
            </a:extLst>
          </p:cNvPr>
          <p:cNvSpPr txBox="1">
            <a:spLocks/>
          </p:cNvSpPr>
          <p:nvPr/>
        </p:nvSpPr>
        <p:spPr>
          <a:xfrm>
            <a:off x="4634800" y="2682814"/>
            <a:ext cx="6651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 b="0" i="0" u="none" strike="noStrike" cap="none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>
            <a:r>
              <a:rPr lang="en" dirty="0"/>
              <a:t>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Introduction</a:t>
            </a:r>
          </a:p>
        </p:txBody>
      </p:sp>
      <p:sp>
        <p:nvSpPr>
          <p:cNvPr id="777" name="Google Shape;777;p30"/>
          <p:cNvSpPr txBox="1">
            <a:spLocks noGrp="1"/>
          </p:cNvSpPr>
          <p:nvPr>
            <p:ph type="subTitle" idx="1"/>
          </p:nvPr>
        </p:nvSpPr>
        <p:spPr>
          <a:xfrm>
            <a:off x="373380" y="1142360"/>
            <a:ext cx="7805935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naheim" panose="020B0604020202020204" charset="0"/>
                <a:cs typeface="Times New Roman" panose="02020603050405020304" pitchFamily="18" charset="0"/>
              </a:rPr>
              <a:t>Employee attrition</a:t>
            </a:r>
            <a:r>
              <a:rPr lang="en-US" sz="2000" dirty="0">
                <a:latin typeface="Anaheim" panose="020B0604020202020204" charset="0"/>
                <a:cs typeface="Times New Roman" panose="02020603050405020304" pitchFamily="18" charset="0"/>
              </a:rPr>
              <a:t> occurs when employees leave the organization.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naheim" panose="020B0604020202020204" charset="0"/>
                <a:cs typeface="Times New Roman" panose="02020603050405020304" pitchFamily="18" charset="0"/>
              </a:rPr>
              <a:t>High attrition impacts </a:t>
            </a:r>
            <a:r>
              <a:rPr lang="en-US" sz="2000" b="1" dirty="0">
                <a:latin typeface="Anaheim" panose="020B0604020202020204" charset="0"/>
                <a:cs typeface="Times New Roman" panose="02020603050405020304" pitchFamily="18" charset="0"/>
              </a:rPr>
              <a:t>costs, productivity, and team morale</a:t>
            </a:r>
            <a:r>
              <a:rPr lang="en-US" sz="2000" dirty="0">
                <a:latin typeface="Anaheim" panose="020B0604020202020204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naheim" panose="020B0604020202020204" charset="0"/>
                <a:cs typeface="Times New Roman" panose="02020603050405020304" pitchFamily="18" charset="0"/>
              </a:rPr>
              <a:t>HR data provides insights into factors like:</a:t>
            </a:r>
          </a:p>
          <a:p>
            <a:pPr marL="654050" indent="-514350">
              <a:buFont typeface="+mj-lt"/>
              <a:buAutoNum type="romanLcPeriod"/>
            </a:pPr>
            <a:r>
              <a:rPr lang="en-US" sz="2000" dirty="0">
                <a:latin typeface="Anaheim" panose="020B0604020202020204" charset="0"/>
                <a:cs typeface="Times New Roman" panose="02020603050405020304" pitchFamily="18" charset="0"/>
              </a:rPr>
              <a:t>Salary &amp; compensation</a:t>
            </a:r>
          </a:p>
          <a:p>
            <a:pPr marL="654050" indent="-514350">
              <a:buFont typeface="+mj-lt"/>
              <a:buAutoNum type="romanLcPeriod"/>
            </a:pPr>
            <a:r>
              <a:rPr lang="en-US" sz="2000" dirty="0">
                <a:latin typeface="Anaheim" panose="020B0604020202020204" charset="0"/>
                <a:cs typeface="Times New Roman" panose="02020603050405020304" pitchFamily="18" charset="0"/>
              </a:rPr>
              <a:t>Job satisfaction</a:t>
            </a:r>
          </a:p>
          <a:p>
            <a:pPr marL="654050" indent="-514350">
              <a:buFont typeface="+mj-lt"/>
              <a:buAutoNum type="romanLcPeriod"/>
            </a:pPr>
            <a:r>
              <a:rPr lang="en-US" sz="2000" dirty="0">
                <a:latin typeface="Anaheim" panose="020B0604020202020204" charset="0"/>
                <a:cs typeface="Times New Roman" panose="02020603050405020304" pitchFamily="18" charset="0"/>
              </a:rPr>
              <a:t>Career growth</a:t>
            </a:r>
          </a:p>
          <a:p>
            <a:pPr marL="654050" indent="-514350">
              <a:buFont typeface="+mj-lt"/>
              <a:buAutoNum type="romanLcPeriod"/>
            </a:pPr>
            <a:r>
              <a:rPr lang="en-US" sz="2000" dirty="0">
                <a:latin typeface="Anaheim" panose="020B0604020202020204" charset="0"/>
                <a:cs typeface="Times New Roman" panose="02020603050405020304" pitchFamily="18" charset="0"/>
              </a:rPr>
              <a:t>Work-life balance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Anaheim" panose="020B0604020202020204" charset="0"/>
                <a:cs typeface="Times New Roman" panose="02020603050405020304" pitchFamily="18" charset="0"/>
              </a:rPr>
              <a:t>Analysis helps HR</a:t>
            </a:r>
            <a:r>
              <a:rPr lang="en-US" sz="2000" dirty="0">
                <a:latin typeface="Anaheim" panose="020B0604020202020204" charset="0"/>
                <a:cs typeface="Times New Roman" panose="02020603050405020304" pitchFamily="18" charset="0"/>
              </a:rPr>
              <a:t> identify key reasons for attrition.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naheim" panose="020B0604020202020204" charset="0"/>
                <a:cs typeface="Times New Roman" panose="02020603050405020304" pitchFamily="18" charset="0"/>
              </a:rPr>
              <a:t>Goal: Support </a:t>
            </a:r>
            <a:r>
              <a:rPr lang="en-US" sz="2000" b="1" dirty="0">
                <a:latin typeface="Anaheim" panose="020B0604020202020204" charset="0"/>
                <a:cs typeface="Times New Roman" panose="02020603050405020304" pitchFamily="18" charset="0"/>
              </a:rPr>
              <a:t>data-driven strategies</a:t>
            </a:r>
            <a:r>
              <a:rPr lang="en-US" sz="2000" dirty="0">
                <a:latin typeface="Anaheim" panose="020B0604020202020204" charset="0"/>
                <a:cs typeface="Times New Roman" panose="02020603050405020304" pitchFamily="18" charset="0"/>
              </a:rPr>
              <a:t> for employee retention.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latin typeface="Anaheim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>
          <a:extLst>
            <a:ext uri="{FF2B5EF4-FFF2-40B4-BE49-F238E27FC236}">
              <a16:creationId xmlns:a16="http://schemas.microsoft.com/office/drawing/2014/main" id="{EA0FF729-AA30-8C47-6A54-53D75DD68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0">
            <a:extLst>
              <a:ext uri="{FF2B5EF4-FFF2-40B4-BE49-F238E27FC236}">
                <a16:creationId xmlns:a16="http://schemas.microsoft.com/office/drawing/2014/main" id="{AD66CE86-3DC4-D535-5847-B70C8FADB7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Objectives</a:t>
            </a:r>
          </a:p>
        </p:txBody>
      </p:sp>
      <p:sp>
        <p:nvSpPr>
          <p:cNvPr id="777" name="Google Shape;777;p30">
            <a:extLst>
              <a:ext uri="{FF2B5EF4-FFF2-40B4-BE49-F238E27FC236}">
                <a16:creationId xmlns:a16="http://schemas.microsoft.com/office/drawing/2014/main" id="{1BA3282A-4BDD-10F1-2153-EDFAC70F371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3380" y="1431920"/>
            <a:ext cx="7805935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Anaheim" panose="020B0604020202020204" charset="0"/>
              </a:rPr>
              <a:t>To analyze HR data and understand patterns of employee attrition.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Anaheim" panose="020B0604020202020204" charset="0"/>
              </a:rPr>
              <a:t>To identify key factors influencing employees to leave.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Anaheim" panose="020B0604020202020204" charset="0"/>
              </a:rPr>
              <a:t>To study the relationship between job satisfaction, salary, promotion, and attrition.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Anaheim" panose="020B0604020202020204" charset="0"/>
              </a:rPr>
              <a:t>To provide HR teams with insights for better retention strategies.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>
                <a:latin typeface="Anaheim" panose="020B0604020202020204" charset="0"/>
              </a:rPr>
              <a:t>To support data-driven decision-making for reducing attrition.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Anahei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68329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>
          <a:extLst>
            <a:ext uri="{FF2B5EF4-FFF2-40B4-BE49-F238E27FC236}">
              <a16:creationId xmlns:a16="http://schemas.microsoft.com/office/drawing/2014/main" id="{5C597150-1CF8-93BB-1538-0FED11D93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0">
            <a:extLst>
              <a:ext uri="{FF2B5EF4-FFF2-40B4-BE49-F238E27FC236}">
                <a16:creationId xmlns:a16="http://schemas.microsoft.com/office/drawing/2014/main" id="{D16597B5-B1E7-BFA9-E64E-39C4CF1D7B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Methodology</a:t>
            </a:r>
          </a:p>
        </p:txBody>
      </p:sp>
      <p:sp>
        <p:nvSpPr>
          <p:cNvPr id="777" name="Google Shape;777;p30">
            <a:extLst>
              <a:ext uri="{FF2B5EF4-FFF2-40B4-BE49-F238E27FC236}">
                <a16:creationId xmlns:a16="http://schemas.microsoft.com/office/drawing/2014/main" id="{19D00DF6-FFE7-C256-B3DA-0A719CC7200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3380" y="1431920"/>
            <a:ext cx="7805935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b="1" dirty="0">
                <a:solidFill>
                  <a:schemeClr val="tx1"/>
                </a:solidFill>
                <a:latin typeface="Anaheim" panose="020B0604020202020204" charset="0"/>
              </a:rPr>
              <a:t>Step 1:</a:t>
            </a:r>
            <a:r>
              <a:rPr lang="en-US" altLang="en-US" sz="1900" dirty="0">
                <a:solidFill>
                  <a:schemeClr val="tx1"/>
                </a:solidFill>
                <a:latin typeface="Anaheim" panose="020B0604020202020204" charset="0"/>
              </a:rPr>
              <a:t> Data Collection – HR dataset of employee details.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b="1" dirty="0">
                <a:solidFill>
                  <a:schemeClr val="tx1"/>
                </a:solidFill>
                <a:latin typeface="Anaheim" panose="020B0604020202020204" charset="0"/>
              </a:rPr>
              <a:t>Step 2:</a:t>
            </a:r>
            <a:r>
              <a:rPr lang="en-US" altLang="en-US" sz="1900" dirty="0">
                <a:solidFill>
                  <a:schemeClr val="tx1"/>
                </a:solidFill>
                <a:latin typeface="Anaheim" panose="020B0604020202020204" charset="0"/>
              </a:rPr>
              <a:t> Data Preprocessing – cleaning, handling missing values.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b="1" dirty="0">
                <a:solidFill>
                  <a:schemeClr val="tx1"/>
                </a:solidFill>
                <a:latin typeface="Anaheim" panose="020B0604020202020204" charset="0"/>
              </a:rPr>
              <a:t>Step 3:</a:t>
            </a:r>
            <a:r>
              <a:rPr lang="en-US" altLang="en-US" sz="1900" dirty="0">
                <a:solidFill>
                  <a:schemeClr val="tx1"/>
                </a:solidFill>
                <a:latin typeface="Anaheim" panose="020B0604020202020204" charset="0"/>
              </a:rPr>
              <a:t> Exploratory Data Analysis (EDA) – identifying patterns &amp; key factors.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b="1" dirty="0">
                <a:solidFill>
                  <a:schemeClr val="tx1"/>
                </a:solidFill>
                <a:latin typeface="Anaheim" panose="020B0604020202020204" charset="0"/>
              </a:rPr>
              <a:t>Step 4:</a:t>
            </a:r>
            <a:r>
              <a:rPr lang="en-US" altLang="en-US" sz="1900" dirty="0">
                <a:solidFill>
                  <a:schemeClr val="tx1"/>
                </a:solidFill>
                <a:latin typeface="Anaheim" panose="020B0604020202020204" charset="0"/>
              </a:rPr>
              <a:t> Hypothesis Testing – checking relationships between factors &amp; attrition.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b="1" dirty="0">
                <a:solidFill>
                  <a:schemeClr val="tx1"/>
                </a:solidFill>
                <a:latin typeface="Anaheim" panose="020B0604020202020204" charset="0"/>
              </a:rPr>
              <a:t>Step 5:</a:t>
            </a:r>
            <a:r>
              <a:rPr lang="en-US" altLang="en-US" sz="1900" dirty="0">
                <a:solidFill>
                  <a:schemeClr val="tx1"/>
                </a:solidFill>
                <a:latin typeface="Anaheim" panose="020B0604020202020204" charset="0"/>
              </a:rPr>
              <a:t> Insights &amp; Findings – summarize results to support HR strategies.</a:t>
            </a:r>
          </a:p>
          <a:p>
            <a:pPr marL="285750" lvl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latin typeface="Anaheim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380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>
          <a:extLst>
            <a:ext uri="{FF2B5EF4-FFF2-40B4-BE49-F238E27FC236}">
              <a16:creationId xmlns:a16="http://schemas.microsoft.com/office/drawing/2014/main" id="{27F15516-D9DD-3985-63C7-C0264CE2A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0">
            <a:extLst>
              <a:ext uri="{FF2B5EF4-FFF2-40B4-BE49-F238E27FC236}">
                <a16:creationId xmlns:a16="http://schemas.microsoft.com/office/drawing/2014/main" id="{3ABAC509-545D-88AB-F8D1-820D56FA1B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1000" y="5574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Results:</a:t>
            </a:r>
          </a:p>
        </p:txBody>
      </p:sp>
      <p:sp>
        <p:nvSpPr>
          <p:cNvPr id="777" name="Google Shape;777;p30">
            <a:extLst>
              <a:ext uri="{FF2B5EF4-FFF2-40B4-BE49-F238E27FC236}">
                <a16:creationId xmlns:a16="http://schemas.microsoft.com/office/drawing/2014/main" id="{84115855-F27B-2F8C-055D-59BF0959F47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18065" y="1431920"/>
            <a:ext cx="7805935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Anaheim" panose="020B0604020202020204" charset="0"/>
              </a:rPr>
              <a:t>Data Preprocessing: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Anaheim" panose="020B0604020202020204" charset="0"/>
              </a:rPr>
              <a:t>Dataset successfully loaded and explored.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Anaheim" panose="020B0604020202020204" charset="0"/>
              </a:rPr>
              <a:t>No major missing values found (handled if present).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Anaheim" panose="020B0604020202020204" charset="0"/>
              </a:rPr>
              <a:t>Categorical variables identified.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Anaheim" panose="020B0604020202020204" charset="0"/>
              </a:rPr>
              <a:t>Numerical features scaled for consistency.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Anaheim" panose="020B0604020202020204" charset="0"/>
              </a:rPr>
              <a:t>Features (X) and Target (y = Attrition) separated for analysis.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Anaheim" panose="020B0604020202020204" charset="0"/>
              </a:rPr>
              <a:t>Dataset ready for further modeling and analysis.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Anaheim" panose="020B0604020202020204" charset="0"/>
            </a:endParaRPr>
          </a:p>
        </p:txBody>
      </p:sp>
      <p:grpSp>
        <p:nvGrpSpPr>
          <p:cNvPr id="2" name="Google Shape;9933;p61">
            <a:extLst>
              <a:ext uri="{FF2B5EF4-FFF2-40B4-BE49-F238E27FC236}">
                <a16:creationId xmlns:a16="http://schemas.microsoft.com/office/drawing/2014/main" id="{A451E125-863D-55C1-55DB-2A6717539823}"/>
              </a:ext>
            </a:extLst>
          </p:cNvPr>
          <p:cNvGrpSpPr/>
          <p:nvPr/>
        </p:nvGrpSpPr>
        <p:grpSpPr>
          <a:xfrm>
            <a:off x="618065" y="655512"/>
            <a:ext cx="391368" cy="376650"/>
            <a:chOff x="-37534750" y="2668075"/>
            <a:chExt cx="332400" cy="319900"/>
          </a:xfrm>
        </p:grpSpPr>
        <p:sp>
          <p:nvSpPr>
            <p:cNvPr id="3" name="Google Shape;9934;p61">
              <a:extLst>
                <a:ext uri="{FF2B5EF4-FFF2-40B4-BE49-F238E27FC236}">
                  <a16:creationId xmlns:a16="http://schemas.microsoft.com/office/drawing/2014/main" id="{CAB66514-79A2-7655-6361-9C5B0C3FBF49}"/>
                </a:ext>
              </a:extLst>
            </p:cNvPr>
            <p:cNvSpPr/>
            <p:nvPr/>
          </p:nvSpPr>
          <p:spPr>
            <a:xfrm>
              <a:off x="-37534750" y="2668075"/>
              <a:ext cx="332400" cy="319900"/>
            </a:xfrm>
            <a:custGeom>
              <a:avLst/>
              <a:gdLst/>
              <a:ahLst/>
              <a:cxnLst/>
              <a:rect l="l" t="t" r="r" b="b"/>
              <a:pathLst>
                <a:path w="13296" h="12796" extrusionOk="0">
                  <a:moveTo>
                    <a:pt x="5258" y="834"/>
                  </a:moveTo>
                  <a:cubicBezTo>
                    <a:pt x="5799" y="834"/>
                    <a:pt x="6338" y="935"/>
                    <a:pt x="6837" y="1134"/>
                  </a:cubicBezTo>
                  <a:cubicBezTo>
                    <a:pt x="9105" y="2142"/>
                    <a:pt x="10019" y="4852"/>
                    <a:pt x="8822" y="6963"/>
                  </a:cubicBezTo>
                  <a:cubicBezTo>
                    <a:pt x="8790" y="7026"/>
                    <a:pt x="8790" y="7026"/>
                    <a:pt x="8790" y="7057"/>
                  </a:cubicBezTo>
                  <a:cubicBezTo>
                    <a:pt x="8632" y="7372"/>
                    <a:pt x="8412" y="7656"/>
                    <a:pt x="8160" y="7876"/>
                  </a:cubicBezTo>
                  <a:cubicBezTo>
                    <a:pt x="8002" y="8002"/>
                    <a:pt x="7876" y="8128"/>
                    <a:pt x="7782" y="8191"/>
                  </a:cubicBezTo>
                  <a:cubicBezTo>
                    <a:pt x="7687" y="8223"/>
                    <a:pt x="7719" y="8223"/>
                    <a:pt x="7687" y="8286"/>
                  </a:cubicBezTo>
                  <a:cubicBezTo>
                    <a:pt x="7152" y="8664"/>
                    <a:pt x="6585" y="8947"/>
                    <a:pt x="5923" y="9073"/>
                  </a:cubicBezTo>
                  <a:cubicBezTo>
                    <a:pt x="5694" y="9110"/>
                    <a:pt x="5468" y="9128"/>
                    <a:pt x="5245" y="9128"/>
                  </a:cubicBezTo>
                  <a:cubicBezTo>
                    <a:pt x="2977" y="9128"/>
                    <a:pt x="1071" y="7298"/>
                    <a:pt x="1071" y="4946"/>
                  </a:cubicBezTo>
                  <a:cubicBezTo>
                    <a:pt x="1071" y="3592"/>
                    <a:pt x="1796" y="2268"/>
                    <a:pt x="2899" y="1544"/>
                  </a:cubicBezTo>
                  <a:cubicBezTo>
                    <a:pt x="3603" y="1068"/>
                    <a:pt x="4433" y="834"/>
                    <a:pt x="5258" y="834"/>
                  </a:cubicBezTo>
                  <a:close/>
                  <a:moveTo>
                    <a:pt x="9200" y="7876"/>
                  </a:moveTo>
                  <a:lnTo>
                    <a:pt x="11909" y="10586"/>
                  </a:lnTo>
                  <a:cubicBezTo>
                    <a:pt x="12067" y="10743"/>
                    <a:pt x="12130" y="10901"/>
                    <a:pt x="12130" y="11153"/>
                  </a:cubicBezTo>
                  <a:cubicBezTo>
                    <a:pt x="12130" y="11594"/>
                    <a:pt x="11783" y="11909"/>
                    <a:pt x="11405" y="11909"/>
                  </a:cubicBezTo>
                  <a:cubicBezTo>
                    <a:pt x="11184" y="11909"/>
                    <a:pt x="10995" y="11814"/>
                    <a:pt x="10838" y="11657"/>
                  </a:cubicBezTo>
                  <a:lnTo>
                    <a:pt x="8128" y="8947"/>
                  </a:lnTo>
                  <a:cubicBezTo>
                    <a:pt x="8160" y="8916"/>
                    <a:pt x="8759" y="8506"/>
                    <a:pt x="9200" y="7876"/>
                  </a:cubicBezTo>
                  <a:close/>
                  <a:moveTo>
                    <a:pt x="5198" y="0"/>
                  </a:moveTo>
                  <a:cubicBezTo>
                    <a:pt x="3529" y="0"/>
                    <a:pt x="1985" y="882"/>
                    <a:pt x="1103" y="2205"/>
                  </a:cubicBezTo>
                  <a:cubicBezTo>
                    <a:pt x="158" y="3623"/>
                    <a:pt x="0" y="5387"/>
                    <a:pt x="630" y="6931"/>
                  </a:cubicBezTo>
                  <a:cubicBezTo>
                    <a:pt x="1470" y="8860"/>
                    <a:pt x="3356" y="9972"/>
                    <a:pt x="5251" y="9972"/>
                  </a:cubicBezTo>
                  <a:cubicBezTo>
                    <a:pt x="5988" y="9972"/>
                    <a:pt x="6725" y="9804"/>
                    <a:pt x="7404" y="9452"/>
                  </a:cubicBezTo>
                  <a:lnTo>
                    <a:pt x="10302" y="12318"/>
                  </a:lnTo>
                  <a:cubicBezTo>
                    <a:pt x="10588" y="12626"/>
                    <a:pt x="11026" y="12796"/>
                    <a:pt x="11468" y="12796"/>
                  </a:cubicBezTo>
                  <a:cubicBezTo>
                    <a:pt x="11661" y="12796"/>
                    <a:pt x="11854" y="12763"/>
                    <a:pt x="12035" y="12697"/>
                  </a:cubicBezTo>
                  <a:cubicBezTo>
                    <a:pt x="13043" y="12161"/>
                    <a:pt x="13295" y="10806"/>
                    <a:pt x="12539" y="10050"/>
                  </a:cubicBezTo>
                  <a:lnTo>
                    <a:pt x="9672" y="7183"/>
                  </a:lnTo>
                  <a:cubicBezTo>
                    <a:pt x="10334" y="5860"/>
                    <a:pt x="10334" y="4348"/>
                    <a:pt x="9767" y="3025"/>
                  </a:cubicBezTo>
                  <a:cubicBezTo>
                    <a:pt x="9042" y="1229"/>
                    <a:pt x="7215" y="0"/>
                    <a:pt x="51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4" name="Google Shape;9935;p61">
              <a:extLst>
                <a:ext uri="{FF2B5EF4-FFF2-40B4-BE49-F238E27FC236}">
                  <a16:creationId xmlns:a16="http://schemas.microsoft.com/office/drawing/2014/main" id="{5E608994-AF92-DE5D-EF4B-17FA075B947C}"/>
                </a:ext>
              </a:extLst>
            </p:cNvPr>
            <p:cNvSpPr/>
            <p:nvPr/>
          </p:nvSpPr>
          <p:spPr>
            <a:xfrm>
              <a:off x="-37487500" y="2709475"/>
              <a:ext cx="165425" cy="164450"/>
            </a:xfrm>
            <a:custGeom>
              <a:avLst/>
              <a:gdLst/>
              <a:ahLst/>
              <a:cxnLst/>
              <a:rect l="l" t="t" r="r" b="b"/>
              <a:pathLst>
                <a:path w="6617" h="6578" extrusionOk="0">
                  <a:moveTo>
                    <a:pt x="3308" y="833"/>
                  </a:moveTo>
                  <a:cubicBezTo>
                    <a:pt x="4695" y="833"/>
                    <a:pt x="5797" y="1936"/>
                    <a:pt x="5797" y="3290"/>
                  </a:cubicBezTo>
                  <a:cubicBezTo>
                    <a:pt x="5797" y="4614"/>
                    <a:pt x="4726" y="5779"/>
                    <a:pt x="3308" y="5779"/>
                  </a:cubicBezTo>
                  <a:cubicBezTo>
                    <a:pt x="1954" y="5779"/>
                    <a:pt x="851" y="4677"/>
                    <a:pt x="851" y="3290"/>
                  </a:cubicBezTo>
                  <a:cubicBezTo>
                    <a:pt x="851" y="1936"/>
                    <a:pt x="1954" y="833"/>
                    <a:pt x="3308" y="833"/>
                  </a:cubicBezTo>
                  <a:close/>
                  <a:moveTo>
                    <a:pt x="3319" y="0"/>
                  </a:moveTo>
                  <a:cubicBezTo>
                    <a:pt x="2880" y="0"/>
                    <a:pt x="2438" y="81"/>
                    <a:pt x="2017" y="234"/>
                  </a:cubicBezTo>
                  <a:cubicBezTo>
                    <a:pt x="851" y="738"/>
                    <a:pt x="0" y="1936"/>
                    <a:pt x="0" y="3259"/>
                  </a:cubicBezTo>
                  <a:cubicBezTo>
                    <a:pt x="0" y="4362"/>
                    <a:pt x="568" y="5401"/>
                    <a:pt x="1481" y="6031"/>
                  </a:cubicBezTo>
                  <a:cubicBezTo>
                    <a:pt x="2033" y="6405"/>
                    <a:pt x="2645" y="6578"/>
                    <a:pt x="3255" y="6578"/>
                  </a:cubicBezTo>
                  <a:cubicBezTo>
                    <a:pt x="3725" y="6578"/>
                    <a:pt x="4193" y="6475"/>
                    <a:pt x="4632" y="6283"/>
                  </a:cubicBezTo>
                  <a:cubicBezTo>
                    <a:pt x="5829" y="5748"/>
                    <a:pt x="6585" y="4551"/>
                    <a:pt x="6585" y="3259"/>
                  </a:cubicBezTo>
                  <a:cubicBezTo>
                    <a:pt x="6616" y="2219"/>
                    <a:pt x="6081" y="1180"/>
                    <a:pt x="5167" y="549"/>
                  </a:cubicBezTo>
                  <a:cubicBezTo>
                    <a:pt x="4605" y="175"/>
                    <a:pt x="3965" y="0"/>
                    <a:pt x="33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61690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>
          <a:extLst>
            <a:ext uri="{FF2B5EF4-FFF2-40B4-BE49-F238E27FC236}">
              <a16:creationId xmlns:a16="http://schemas.microsoft.com/office/drawing/2014/main" id="{086D8886-E600-7E44-564A-89C56CED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30">
            <a:extLst>
              <a:ext uri="{FF2B5EF4-FFF2-40B4-BE49-F238E27FC236}">
                <a16:creationId xmlns:a16="http://schemas.microsoft.com/office/drawing/2014/main" id="{4CED8D11-DB8D-15DD-F88A-F7D8D7DDEA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04691" y="53646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Analysis:</a:t>
            </a:r>
          </a:p>
        </p:txBody>
      </p:sp>
      <p:sp>
        <p:nvSpPr>
          <p:cNvPr id="777" name="Google Shape;777;p30">
            <a:extLst>
              <a:ext uri="{FF2B5EF4-FFF2-40B4-BE49-F238E27FC236}">
                <a16:creationId xmlns:a16="http://schemas.microsoft.com/office/drawing/2014/main" id="{AD17E020-A6AB-D8CE-75E6-261731E9344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892385" y="1668140"/>
            <a:ext cx="7805935" cy="27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Anaheim" panose="020B0604020202020204" charset="0"/>
              </a:rPr>
              <a:t>Total records and features in the HR dataset identified.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Anaheim" panose="020B0604020202020204" charset="0"/>
              </a:rPr>
              <a:t>Checked for missing values → handled/confirmed none.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Anaheim" panose="020B0604020202020204" charset="0"/>
              </a:rPr>
              <a:t>Detected categorical vs numerical variables.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Anaheim" panose="020B0604020202020204" charset="0"/>
              </a:rPr>
              <a:t>Removed duplicates (if any).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900" dirty="0">
                <a:solidFill>
                  <a:schemeClr val="tx1"/>
                </a:solidFill>
                <a:latin typeface="Anaheim" panose="020B0604020202020204" charset="0"/>
              </a:rPr>
              <a:t>Prepared dataset for further analysis and modeling.</a:t>
            </a:r>
          </a:p>
          <a:p>
            <a:pPr marL="342900" lvl="0" indent="-34290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900" dirty="0">
              <a:latin typeface="Anaheim" panose="020B0604020202020204" charset="0"/>
            </a:endParaRPr>
          </a:p>
        </p:txBody>
      </p:sp>
      <p:sp>
        <p:nvSpPr>
          <p:cNvPr id="2" name="Google Shape;1532;p47">
            <a:extLst>
              <a:ext uri="{FF2B5EF4-FFF2-40B4-BE49-F238E27FC236}">
                <a16:creationId xmlns:a16="http://schemas.microsoft.com/office/drawing/2014/main" id="{784AEFD0-8B31-4A52-8F89-00A6EA826128}"/>
              </a:ext>
            </a:extLst>
          </p:cNvPr>
          <p:cNvSpPr/>
          <p:nvPr/>
        </p:nvSpPr>
        <p:spPr>
          <a:xfrm>
            <a:off x="622121" y="631529"/>
            <a:ext cx="382570" cy="382571"/>
          </a:xfrm>
          <a:custGeom>
            <a:avLst/>
            <a:gdLst/>
            <a:ahLst/>
            <a:cxnLst/>
            <a:rect l="l" t="t" r="r" b="b"/>
            <a:pathLst>
              <a:path w="347" h="347" extrusionOk="0">
                <a:moveTo>
                  <a:pt x="347" y="307"/>
                </a:moveTo>
                <a:lnTo>
                  <a:pt x="285" y="307"/>
                </a:lnTo>
                <a:lnTo>
                  <a:pt x="285" y="43"/>
                </a:lnTo>
                <a:lnTo>
                  <a:pt x="209" y="43"/>
                </a:lnTo>
                <a:lnTo>
                  <a:pt x="152" y="100"/>
                </a:lnTo>
                <a:lnTo>
                  <a:pt x="93" y="59"/>
                </a:lnTo>
                <a:lnTo>
                  <a:pt x="43" y="109"/>
                </a:lnTo>
                <a:lnTo>
                  <a:pt x="43" y="0"/>
                </a:lnTo>
                <a:lnTo>
                  <a:pt x="22" y="0"/>
                </a:lnTo>
                <a:lnTo>
                  <a:pt x="22" y="21"/>
                </a:lnTo>
                <a:lnTo>
                  <a:pt x="0" y="21"/>
                </a:lnTo>
                <a:lnTo>
                  <a:pt x="0" y="43"/>
                </a:lnTo>
                <a:lnTo>
                  <a:pt x="22" y="43"/>
                </a:lnTo>
                <a:lnTo>
                  <a:pt x="22" y="62"/>
                </a:lnTo>
                <a:lnTo>
                  <a:pt x="0" y="62"/>
                </a:lnTo>
                <a:lnTo>
                  <a:pt x="0" y="83"/>
                </a:lnTo>
                <a:lnTo>
                  <a:pt x="22" y="83"/>
                </a:lnTo>
                <a:lnTo>
                  <a:pt x="22" y="102"/>
                </a:lnTo>
                <a:lnTo>
                  <a:pt x="0" y="102"/>
                </a:lnTo>
                <a:lnTo>
                  <a:pt x="0" y="124"/>
                </a:lnTo>
                <a:lnTo>
                  <a:pt x="22" y="124"/>
                </a:lnTo>
                <a:lnTo>
                  <a:pt x="22" y="143"/>
                </a:lnTo>
                <a:lnTo>
                  <a:pt x="0" y="143"/>
                </a:lnTo>
                <a:lnTo>
                  <a:pt x="0" y="164"/>
                </a:lnTo>
                <a:lnTo>
                  <a:pt x="22" y="164"/>
                </a:lnTo>
                <a:lnTo>
                  <a:pt x="22" y="183"/>
                </a:lnTo>
                <a:lnTo>
                  <a:pt x="0" y="183"/>
                </a:lnTo>
                <a:lnTo>
                  <a:pt x="0" y="204"/>
                </a:lnTo>
                <a:lnTo>
                  <a:pt x="22" y="204"/>
                </a:lnTo>
                <a:lnTo>
                  <a:pt x="22" y="223"/>
                </a:lnTo>
                <a:lnTo>
                  <a:pt x="0" y="223"/>
                </a:lnTo>
                <a:lnTo>
                  <a:pt x="0" y="245"/>
                </a:lnTo>
                <a:lnTo>
                  <a:pt x="22" y="245"/>
                </a:lnTo>
                <a:lnTo>
                  <a:pt x="22" y="266"/>
                </a:lnTo>
                <a:lnTo>
                  <a:pt x="0" y="266"/>
                </a:lnTo>
                <a:lnTo>
                  <a:pt x="0" y="285"/>
                </a:lnTo>
                <a:lnTo>
                  <a:pt x="22" y="285"/>
                </a:lnTo>
                <a:lnTo>
                  <a:pt x="22" y="307"/>
                </a:lnTo>
                <a:lnTo>
                  <a:pt x="0" y="307"/>
                </a:lnTo>
                <a:lnTo>
                  <a:pt x="0" y="326"/>
                </a:lnTo>
                <a:lnTo>
                  <a:pt x="22" y="326"/>
                </a:lnTo>
                <a:lnTo>
                  <a:pt x="22" y="347"/>
                </a:lnTo>
                <a:lnTo>
                  <a:pt x="43" y="347"/>
                </a:lnTo>
                <a:lnTo>
                  <a:pt x="43" y="326"/>
                </a:lnTo>
                <a:lnTo>
                  <a:pt x="62" y="326"/>
                </a:lnTo>
                <a:lnTo>
                  <a:pt x="62" y="347"/>
                </a:lnTo>
                <a:lnTo>
                  <a:pt x="83" y="347"/>
                </a:lnTo>
                <a:lnTo>
                  <a:pt x="83" y="326"/>
                </a:lnTo>
                <a:lnTo>
                  <a:pt x="102" y="326"/>
                </a:lnTo>
                <a:lnTo>
                  <a:pt x="102" y="347"/>
                </a:lnTo>
                <a:lnTo>
                  <a:pt x="124" y="347"/>
                </a:lnTo>
                <a:lnTo>
                  <a:pt x="124" y="326"/>
                </a:lnTo>
                <a:lnTo>
                  <a:pt x="143" y="326"/>
                </a:lnTo>
                <a:lnTo>
                  <a:pt x="143" y="347"/>
                </a:lnTo>
                <a:lnTo>
                  <a:pt x="164" y="347"/>
                </a:lnTo>
                <a:lnTo>
                  <a:pt x="164" y="326"/>
                </a:lnTo>
                <a:lnTo>
                  <a:pt x="183" y="326"/>
                </a:lnTo>
                <a:lnTo>
                  <a:pt x="183" y="347"/>
                </a:lnTo>
                <a:lnTo>
                  <a:pt x="204" y="347"/>
                </a:lnTo>
                <a:lnTo>
                  <a:pt x="204" y="326"/>
                </a:lnTo>
                <a:lnTo>
                  <a:pt x="226" y="326"/>
                </a:lnTo>
                <a:lnTo>
                  <a:pt x="226" y="347"/>
                </a:lnTo>
                <a:lnTo>
                  <a:pt x="245" y="347"/>
                </a:lnTo>
                <a:lnTo>
                  <a:pt x="245" y="326"/>
                </a:lnTo>
                <a:lnTo>
                  <a:pt x="266" y="326"/>
                </a:lnTo>
                <a:lnTo>
                  <a:pt x="266" y="347"/>
                </a:lnTo>
                <a:lnTo>
                  <a:pt x="285" y="347"/>
                </a:lnTo>
                <a:lnTo>
                  <a:pt x="285" y="326"/>
                </a:lnTo>
                <a:lnTo>
                  <a:pt x="306" y="326"/>
                </a:lnTo>
                <a:lnTo>
                  <a:pt x="306" y="347"/>
                </a:lnTo>
                <a:lnTo>
                  <a:pt x="325" y="347"/>
                </a:lnTo>
                <a:lnTo>
                  <a:pt x="325" y="326"/>
                </a:lnTo>
                <a:lnTo>
                  <a:pt x="347" y="326"/>
                </a:lnTo>
                <a:lnTo>
                  <a:pt x="347" y="307"/>
                </a:lnTo>
                <a:close/>
                <a:moveTo>
                  <a:pt x="266" y="307"/>
                </a:moveTo>
                <a:lnTo>
                  <a:pt x="55" y="307"/>
                </a:lnTo>
                <a:lnTo>
                  <a:pt x="133" y="209"/>
                </a:lnTo>
                <a:lnTo>
                  <a:pt x="176" y="252"/>
                </a:lnTo>
                <a:lnTo>
                  <a:pt x="218" y="166"/>
                </a:lnTo>
                <a:lnTo>
                  <a:pt x="266" y="181"/>
                </a:lnTo>
                <a:lnTo>
                  <a:pt x="266" y="307"/>
                </a:lnTo>
                <a:close/>
                <a:moveTo>
                  <a:pt x="95" y="85"/>
                </a:moveTo>
                <a:lnTo>
                  <a:pt x="154" y="126"/>
                </a:lnTo>
                <a:lnTo>
                  <a:pt x="218" y="62"/>
                </a:lnTo>
                <a:lnTo>
                  <a:pt x="266" y="62"/>
                </a:lnTo>
                <a:lnTo>
                  <a:pt x="266" y="159"/>
                </a:lnTo>
                <a:lnTo>
                  <a:pt x="209" y="140"/>
                </a:lnTo>
                <a:lnTo>
                  <a:pt x="171" y="219"/>
                </a:lnTo>
                <a:lnTo>
                  <a:pt x="133" y="178"/>
                </a:lnTo>
                <a:lnTo>
                  <a:pt x="43" y="288"/>
                </a:lnTo>
                <a:lnTo>
                  <a:pt x="43" y="138"/>
                </a:lnTo>
                <a:lnTo>
                  <a:pt x="95" y="85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30876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65648B-623B-CA89-D5BD-99D96F455CE9}"/>
              </a:ext>
            </a:extLst>
          </p:cNvPr>
          <p:cNvSpPr txBox="1"/>
          <p:nvPr/>
        </p:nvSpPr>
        <p:spPr>
          <a:xfrm>
            <a:off x="243840" y="523771"/>
            <a:ext cx="39547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100" dirty="0">
                <a:latin typeface="Anaheim" panose="020B0604020202020204" charset="0"/>
              </a:rPr>
              <a:t>Importing necessary Libraries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6A6B5E-7AC0-DEF8-AC3D-7E403859B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186" y="1076237"/>
            <a:ext cx="3758867" cy="1095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55EB3A-F05C-5513-1522-456F4B827EAF}"/>
              </a:ext>
            </a:extLst>
          </p:cNvPr>
          <p:cNvSpPr txBox="1"/>
          <p:nvPr/>
        </p:nvSpPr>
        <p:spPr>
          <a:xfrm>
            <a:off x="4716780" y="523771"/>
            <a:ext cx="34442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100" dirty="0">
                <a:latin typeface="Anaheim" panose="020B0604020202020204" charset="0"/>
              </a:rPr>
              <a:t>Viewing the Dataset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8DBFFF-2164-ED37-F6A7-0F79A0B13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360" y="990517"/>
            <a:ext cx="4241632" cy="11812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6479956-5819-D4A3-1815-E017B50E9920}"/>
              </a:ext>
            </a:extLst>
          </p:cNvPr>
          <p:cNvSpPr txBox="1"/>
          <p:nvPr/>
        </p:nvSpPr>
        <p:spPr>
          <a:xfrm>
            <a:off x="4785359" y="2656684"/>
            <a:ext cx="4572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100" dirty="0">
                <a:latin typeface="Anaheim" panose="020B0604020202020204" charset="0"/>
              </a:rPr>
              <a:t>Checking for missing values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C78EEF-BB15-D167-2986-52CFFF294A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332" y="3222336"/>
            <a:ext cx="3723721" cy="13955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036CAF-990D-E8C5-E4DA-AD7E696E657B}"/>
              </a:ext>
            </a:extLst>
          </p:cNvPr>
          <p:cNvSpPr txBox="1"/>
          <p:nvPr/>
        </p:nvSpPr>
        <p:spPr>
          <a:xfrm>
            <a:off x="345130" y="2656684"/>
            <a:ext cx="457200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2100" dirty="0">
                <a:latin typeface="Anaheim" panose="020B0604020202020204" charset="0"/>
              </a:rPr>
              <a:t>Dataset Information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47655B-1079-9D1C-E261-13090F0AFF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5359" y="3222336"/>
            <a:ext cx="4241633" cy="1395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15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A7A6E6-DEED-F497-8E62-D3420E69B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42" y="1018597"/>
            <a:ext cx="4497658" cy="1619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0E6375-65AD-52A7-B817-375FB8714857}"/>
              </a:ext>
            </a:extLst>
          </p:cNvPr>
          <p:cNvSpPr txBox="1"/>
          <p:nvPr/>
        </p:nvSpPr>
        <p:spPr>
          <a:xfrm>
            <a:off x="208156" y="275063"/>
            <a:ext cx="457943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900" dirty="0">
                <a:latin typeface="Anaheim" panose="020B0604020202020204" charset="0"/>
              </a:rPr>
              <a:t>Checking For duplicate rows and dropping if any 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C47F2F-3733-2E99-D0BB-6D3997853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647" y="1018598"/>
            <a:ext cx="4344012" cy="1619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58F6D71-C6D5-2304-3ADC-262F22E419E6}"/>
              </a:ext>
            </a:extLst>
          </p:cNvPr>
          <p:cNvSpPr txBox="1"/>
          <p:nvPr/>
        </p:nvSpPr>
        <p:spPr>
          <a:xfrm>
            <a:off x="4572000" y="275063"/>
            <a:ext cx="4579434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900" dirty="0">
                <a:latin typeface="Anaheim" panose="020B0604020202020204" charset="0"/>
              </a:rPr>
              <a:t>Standardizing Columns: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5B04272-DF29-97D7-CE49-C0CF31276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43" y="2780970"/>
            <a:ext cx="4497658" cy="2281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401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46"/>
          <p:cNvSpPr txBox="1">
            <a:spLocks noGrp="1"/>
          </p:cNvSpPr>
          <p:nvPr>
            <p:ph type="title"/>
          </p:nvPr>
        </p:nvSpPr>
        <p:spPr>
          <a:xfrm>
            <a:off x="335137" y="1999197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grpSp>
        <p:nvGrpSpPr>
          <p:cNvPr id="1354" name="Google Shape;1354;p46"/>
          <p:cNvGrpSpPr/>
          <p:nvPr/>
        </p:nvGrpSpPr>
        <p:grpSpPr>
          <a:xfrm>
            <a:off x="4984885" y="952956"/>
            <a:ext cx="3460669" cy="3679360"/>
            <a:chOff x="4977785" y="924631"/>
            <a:chExt cx="3460669" cy="3679360"/>
          </a:xfrm>
        </p:grpSpPr>
        <p:grpSp>
          <p:nvGrpSpPr>
            <p:cNvPr id="1355" name="Google Shape;1355;p46"/>
            <p:cNvGrpSpPr/>
            <p:nvPr/>
          </p:nvGrpSpPr>
          <p:grpSpPr>
            <a:xfrm>
              <a:off x="5409492" y="1599100"/>
              <a:ext cx="1988668" cy="1400059"/>
              <a:chOff x="3622711" y="1331469"/>
              <a:chExt cx="959226" cy="675313"/>
            </a:xfrm>
          </p:grpSpPr>
          <p:sp>
            <p:nvSpPr>
              <p:cNvPr id="1356" name="Google Shape;1356;p46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avLst/>
                <a:gdLst/>
                <a:ahLst/>
                <a:cxnLst/>
                <a:rect l="l" t="t" r="r" b="b"/>
                <a:pathLst>
                  <a:path w="517" h="365" extrusionOk="0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7" name="Google Shape;1357;p46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370" h="164" extrusionOk="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rgbClr val="41578B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8" name="Google Shape;1358;p46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9" name="Google Shape;1359;p46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46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361;p46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362;p46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46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4" name="Google Shape;1364;p46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avLst/>
                <a:gdLst/>
                <a:ahLst/>
                <a:cxnLst/>
                <a:rect l="l" t="t" r="r" b="b"/>
                <a:pathLst>
                  <a:path w="36" h="83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5" name="Google Shape;1365;p46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1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6" name="Google Shape;1366;p46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0" extrusionOk="0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7" name="Google Shape;1367;p46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29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8" name="Google Shape;1368;p46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avLst/>
                <a:gdLst/>
                <a:ahLst/>
                <a:cxnLst/>
                <a:rect l="l" t="t" r="r" b="b"/>
                <a:pathLst>
                  <a:path w="36" h="199" extrusionOk="0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46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avLst/>
                <a:gdLst/>
                <a:ahLst/>
                <a:cxnLst/>
                <a:rect l="l" t="t" r="r" b="b"/>
                <a:pathLst>
                  <a:path w="36" h="167" extrusionOk="0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0" name="Google Shape;1370;p46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avLst/>
                <a:gdLst/>
                <a:ahLst/>
                <a:cxnLst/>
                <a:rect l="l" t="t" r="r" b="b"/>
                <a:pathLst>
                  <a:path w="36" h="248" extrusionOk="0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1" name="Google Shape;1371;p46"/>
            <p:cNvGrpSpPr/>
            <p:nvPr/>
          </p:nvGrpSpPr>
          <p:grpSpPr>
            <a:xfrm flipH="1">
              <a:off x="6979971" y="1968812"/>
              <a:ext cx="1458483" cy="2635179"/>
              <a:chOff x="5132143" y="1520276"/>
              <a:chExt cx="1241051" cy="2242324"/>
            </a:xfrm>
          </p:grpSpPr>
          <p:sp>
            <p:nvSpPr>
              <p:cNvPr id="1372" name="Google Shape;1372;p46"/>
              <p:cNvSpPr/>
              <p:nvPr/>
            </p:nvSpPr>
            <p:spPr>
              <a:xfrm flipH="1">
                <a:off x="5171192" y="3562026"/>
                <a:ext cx="209023" cy="187554"/>
              </a:xfrm>
              <a:custGeom>
                <a:avLst/>
                <a:gdLst/>
                <a:ahLst/>
                <a:cxnLst/>
                <a:rect l="l" t="t" r="r" b="b"/>
                <a:pathLst>
                  <a:path w="273" h="245" extrusionOk="0">
                    <a:moveTo>
                      <a:pt x="0" y="10"/>
                    </a:moveTo>
                    <a:lnTo>
                      <a:pt x="14" y="190"/>
                    </a:lnTo>
                    <a:lnTo>
                      <a:pt x="273" y="245"/>
                    </a:lnTo>
                    <a:lnTo>
                      <a:pt x="141" y="111"/>
                    </a:lnTo>
                    <a:lnTo>
                      <a:pt x="109" y="0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3" name="Google Shape;1373;p46"/>
              <p:cNvSpPr/>
              <p:nvPr/>
            </p:nvSpPr>
            <p:spPr>
              <a:xfrm flipH="1">
                <a:off x="5132143" y="3634751"/>
                <a:ext cx="265681" cy="127843"/>
              </a:xfrm>
              <a:custGeom>
                <a:avLst/>
                <a:gdLst/>
                <a:ahLst/>
                <a:cxnLst/>
                <a:rect l="l" t="t" r="r" b="b"/>
                <a:pathLst>
                  <a:path w="347" h="167" extrusionOk="0">
                    <a:moveTo>
                      <a:pt x="164" y="0"/>
                    </a:moveTo>
                    <a:lnTo>
                      <a:pt x="347" y="162"/>
                    </a:lnTo>
                    <a:lnTo>
                      <a:pt x="0" y="167"/>
                    </a:lnTo>
                    <a:lnTo>
                      <a:pt x="23" y="2"/>
                    </a:lnTo>
                    <a:lnTo>
                      <a:pt x="93" y="69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46"/>
              <p:cNvSpPr/>
              <p:nvPr/>
            </p:nvSpPr>
            <p:spPr>
              <a:xfrm flipH="1">
                <a:off x="5245460" y="3649296"/>
                <a:ext cx="26798" cy="19138"/>
              </a:xfrm>
              <a:custGeom>
                <a:avLst/>
                <a:gdLst/>
                <a:ahLst/>
                <a:cxnLst/>
                <a:rect l="l" t="t" r="r" b="b"/>
                <a:pathLst>
                  <a:path w="35" h="25" extrusionOk="0">
                    <a:moveTo>
                      <a:pt x="3" y="25"/>
                    </a:moveTo>
                    <a:lnTo>
                      <a:pt x="0" y="20"/>
                    </a:lnTo>
                    <a:lnTo>
                      <a:pt x="33" y="0"/>
                    </a:lnTo>
                    <a:lnTo>
                      <a:pt x="35" y="4"/>
                    </a:lnTo>
                    <a:lnTo>
                      <a:pt x="3" y="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46"/>
              <p:cNvSpPr/>
              <p:nvPr/>
            </p:nvSpPr>
            <p:spPr>
              <a:xfrm flipH="1">
                <a:off x="5224021" y="3660013"/>
                <a:ext cx="26798" cy="19138"/>
              </a:xfrm>
              <a:custGeom>
                <a:avLst/>
                <a:gdLst/>
                <a:ahLst/>
                <a:cxnLst/>
                <a:rect l="l" t="t" r="r" b="b"/>
                <a:pathLst>
                  <a:path w="35" h="25" extrusionOk="0">
                    <a:moveTo>
                      <a:pt x="5" y="25"/>
                    </a:moveTo>
                    <a:lnTo>
                      <a:pt x="0" y="20"/>
                    </a:lnTo>
                    <a:lnTo>
                      <a:pt x="32" y="0"/>
                    </a:lnTo>
                    <a:lnTo>
                      <a:pt x="35" y="4"/>
                    </a:lnTo>
                    <a:lnTo>
                      <a:pt x="5" y="25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46"/>
              <p:cNvSpPr/>
              <p:nvPr/>
            </p:nvSpPr>
            <p:spPr>
              <a:xfrm flipH="1">
                <a:off x="5749192" y="3588825"/>
                <a:ext cx="205194" cy="168415"/>
              </a:xfrm>
              <a:custGeom>
                <a:avLst/>
                <a:gdLst/>
                <a:ahLst/>
                <a:cxnLst/>
                <a:rect l="l" t="t" r="r" b="b"/>
                <a:pathLst>
                  <a:path w="268" h="220" extrusionOk="0">
                    <a:moveTo>
                      <a:pt x="245" y="7"/>
                    </a:moveTo>
                    <a:lnTo>
                      <a:pt x="268" y="160"/>
                    </a:lnTo>
                    <a:lnTo>
                      <a:pt x="0" y="220"/>
                    </a:lnTo>
                    <a:lnTo>
                      <a:pt x="144" y="84"/>
                    </a:lnTo>
                    <a:lnTo>
                      <a:pt x="134" y="0"/>
                    </a:lnTo>
                    <a:lnTo>
                      <a:pt x="245" y="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46"/>
              <p:cNvSpPr/>
              <p:nvPr/>
            </p:nvSpPr>
            <p:spPr>
              <a:xfrm flipH="1">
                <a:off x="5738472" y="3645474"/>
                <a:ext cx="236587" cy="117125"/>
              </a:xfrm>
              <a:custGeom>
                <a:avLst/>
                <a:gdLst/>
                <a:ahLst/>
                <a:cxnLst/>
                <a:rect l="l" t="t" r="r" b="b"/>
                <a:pathLst>
                  <a:path w="309" h="153" extrusionOk="0">
                    <a:moveTo>
                      <a:pt x="159" y="0"/>
                    </a:moveTo>
                    <a:lnTo>
                      <a:pt x="0" y="153"/>
                    </a:lnTo>
                    <a:lnTo>
                      <a:pt x="309" y="151"/>
                    </a:lnTo>
                    <a:lnTo>
                      <a:pt x="286" y="7"/>
                    </a:lnTo>
                    <a:lnTo>
                      <a:pt x="238" y="72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46"/>
              <p:cNvSpPr/>
              <p:nvPr/>
            </p:nvSpPr>
            <p:spPr>
              <a:xfrm flipH="1">
                <a:off x="5851789" y="3660019"/>
                <a:ext cx="26032" cy="17607"/>
              </a:xfrm>
              <a:custGeom>
                <a:avLst/>
                <a:gdLst/>
                <a:ahLst/>
                <a:cxnLst/>
                <a:rect l="l" t="t" r="r" b="b"/>
                <a:pathLst>
                  <a:path w="34" h="23" extrusionOk="0">
                    <a:moveTo>
                      <a:pt x="32" y="23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34" y="18"/>
                    </a:lnTo>
                    <a:lnTo>
                      <a:pt x="32" y="2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46"/>
              <p:cNvSpPr/>
              <p:nvPr/>
            </p:nvSpPr>
            <p:spPr>
              <a:xfrm flipH="1">
                <a:off x="5872461" y="3670737"/>
                <a:ext cx="26798" cy="17607"/>
              </a:xfrm>
              <a:custGeom>
                <a:avLst/>
                <a:gdLst/>
                <a:ahLst/>
                <a:cxnLst/>
                <a:rect l="l" t="t" r="r" b="b"/>
                <a:pathLst>
                  <a:path w="35" h="23" extrusionOk="0">
                    <a:moveTo>
                      <a:pt x="32" y="23"/>
                    </a:moveTo>
                    <a:lnTo>
                      <a:pt x="0" y="4"/>
                    </a:lnTo>
                    <a:lnTo>
                      <a:pt x="2" y="0"/>
                    </a:lnTo>
                    <a:lnTo>
                      <a:pt x="35" y="18"/>
                    </a:lnTo>
                    <a:lnTo>
                      <a:pt x="32" y="2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46"/>
              <p:cNvSpPr/>
              <p:nvPr/>
            </p:nvSpPr>
            <p:spPr>
              <a:xfrm rot="-633488" flipH="1">
                <a:off x="5673471" y="1766217"/>
                <a:ext cx="128195" cy="253687"/>
              </a:xfrm>
              <a:custGeom>
                <a:avLst/>
                <a:gdLst/>
                <a:ahLst/>
                <a:cxnLst/>
                <a:rect l="l" t="t" r="r" b="b"/>
                <a:pathLst>
                  <a:path w="145" h="287" extrusionOk="0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46"/>
              <p:cNvSpPr/>
              <p:nvPr/>
            </p:nvSpPr>
            <p:spPr>
              <a:xfrm>
                <a:off x="5738480" y="1670962"/>
                <a:ext cx="0" cy="172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46"/>
              <p:cNvSpPr/>
              <p:nvPr/>
            </p:nvSpPr>
            <p:spPr>
              <a:xfrm rot="-633489" flipH="1">
                <a:off x="5671050" y="1807722"/>
                <a:ext cx="125496" cy="130217"/>
              </a:xfrm>
              <a:custGeom>
                <a:avLst/>
                <a:gdLst/>
                <a:ahLst/>
                <a:cxnLst/>
                <a:rect l="l" t="t" r="r" b="b"/>
                <a:pathLst>
                  <a:path w="142" h="148" extrusionOk="0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46"/>
              <p:cNvSpPr/>
              <p:nvPr/>
            </p:nvSpPr>
            <p:spPr>
              <a:xfrm rot="-633481" flipH="1">
                <a:off x="5635960" y="1614358"/>
                <a:ext cx="237497" cy="284723"/>
              </a:xfrm>
              <a:custGeom>
                <a:avLst/>
                <a:gdLst/>
                <a:ahLst/>
                <a:cxnLst/>
                <a:rect l="l" t="t" r="r" b="b"/>
                <a:pathLst>
                  <a:path w="269" h="322" extrusionOk="0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46"/>
              <p:cNvSpPr/>
              <p:nvPr/>
            </p:nvSpPr>
            <p:spPr>
              <a:xfrm rot="-633479" flipH="1">
                <a:off x="5700559" y="1773589"/>
                <a:ext cx="39808" cy="22265"/>
              </a:xfrm>
              <a:custGeom>
                <a:avLst/>
                <a:gdLst/>
                <a:ahLst/>
                <a:cxnLst/>
                <a:rect l="l" t="t" r="r" b="b"/>
                <a:pathLst>
                  <a:path w="45" h="25" extrusionOk="0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46"/>
              <p:cNvSpPr/>
              <p:nvPr/>
            </p:nvSpPr>
            <p:spPr>
              <a:xfrm rot="-633483" flipH="1">
                <a:off x="5851296" y="1772282"/>
                <a:ext cx="24290" cy="16193"/>
              </a:xfrm>
              <a:custGeom>
                <a:avLst/>
                <a:gdLst/>
                <a:ahLst/>
                <a:cxnLst/>
                <a:rect l="l" t="t" r="r" b="b"/>
                <a:pathLst>
                  <a:path w="27" h="18" extrusionOk="0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46"/>
              <p:cNvSpPr/>
              <p:nvPr/>
            </p:nvSpPr>
            <p:spPr>
              <a:xfrm rot="-633483" flipH="1">
                <a:off x="5827115" y="1742475"/>
                <a:ext cx="18892" cy="37783"/>
              </a:xfrm>
              <a:custGeom>
                <a:avLst/>
                <a:gdLst/>
                <a:ahLst/>
                <a:cxnLst/>
                <a:rect l="l" t="t" r="r" b="b"/>
                <a:pathLst>
                  <a:path w="21" h="43" extrusionOk="0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46"/>
              <p:cNvSpPr/>
              <p:nvPr/>
            </p:nvSpPr>
            <p:spPr>
              <a:xfrm rot="-633483" flipH="1">
                <a:off x="5761344" y="1743130"/>
                <a:ext cx="18217" cy="37783"/>
              </a:xfrm>
              <a:custGeom>
                <a:avLst/>
                <a:gdLst/>
                <a:ahLst/>
                <a:cxnLst/>
                <a:rect l="l" t="t" r="r" b="b"/>
                <a:pathLst>
                  <a:path w="20" h="43" extrusionOk="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46"/>
              <p:cNvSpPr/>
              <p:nvPr/>
            </p:nvSpPr>
            <p:spPr>
              <a:xfrm rot="-633481" flipH="1">
                <a:off x="5716394" y="1692684"/>
                <a:ext cx="62073" cy="57349"/>
              </a:xfrm>
              <a:custGeom>
                <a:avLst/>
                <a:gdLst/>
                <a:ahLst/>
                <a:cxnLst/>
                <a:rect l="l" t="t" r="r" b="b"/>
                <a:pathLst>
                  <a:path w="70" h="65" extrusionOk="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46"/>
              <p:cNvSpPr/>
              <p:nvPr/>
            </p:nvSpPr>
            <p:spPr>
              <a:xfrm rot="-633480" flipH="1">
                <a:off x="5819509" y="1698490"/>
                <a:ext cx="43181" cy="49253"/>
              </a:xfrm>
              <a:custGeom>
                <a:avLst/>
                <a:gdLst/>
                <a:ahLst/>
                <a:cxnLst/>
                <a:rect l="l" t="t" r="r" b="b"/>
                <a:pathLst>
                  <a:path w="49" h="56" extrusionOk="0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46"/>
              <p:cNvSpPr/>
              <p:nvPr/>
            </p:nvSpPr>
            <p:spPr>
              <a:xfrm rot="-633491" flipH="1">
                <a:off x="5600603" y="1703363"/>
                <a:ext cx="85216" cy="148277"/>
              </a:xfrm>
              <a:custGeom>
                <a:avLst/>
                <a:gdLst/>
                <a:ahLst/>
                <a:cxnLst/>
                <a:rect l="l" t="t" r="r" b="b"/>
                <a:pathLst>
                  <a:path w="76" h="133" extrusionOk="0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46"/>
              <p:cNvSpPr/>
              <p:nvPr/>
            </p:nvSpPr>
            <p:spPr>
              <a:xfrm rot="-633480" flipH="1">
                <a:off x="5591390" y="1546767"/>
                <a:ext cx="311041" cy="236819"/>
              </a:xfrm>
              <a:custGeom>
                <a:avLst/>
                <a:gdLst/>
                <a:ahLst/>
                <a:cxnLst/>
                <a:rect l="l" t="t" r="r" b="b"/>
                <a:pathLst>
                  <a:path w="352" h="268" extrusionOk="0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2" name="Google Shape;1392;p46"/>
              <p:cNvSpPr/>
              <p:nvPr/>
            </p:nvSpPr>
            <p:spPr>
              <a:xfrm flipH="1">
                <a:off x="6014420" y="2256924"/>
                <a:ext cx="358774" cy="165973"/>
              </a:xfrm>
              <a:custGeom>
                <a:avLst/>
                <a:gdLst/>
                <a:ahLst/>
                <a:cxnLst/>
                <a:rect l="l" t="t" r="r" b="b"/>
                <a:pathLst>
                  <a:path w="350879" h="162321" extrusionOk="0">
                    <a:moveTo>
                      <a:pt x="350880" y="72485"/>
                    </a:moveTo>
                    <a:cubicBezTo>
                      <a:pt x="320971" y="49244"/>
                      <a:pt x="291634" y="25146"/>
                      <a:pt x="263154" y="0"/>
                    </a:cubicBezTo>
                    <a:lnTo>
                      <a:pt x="154188" y="57912"/>
                    </a:lnTo>
                    <a:lnTo>
                      <a:pt x="146283" y="61531"/>
                    </a:lnTo>
                    <a:cubicBezTo>
                      <a:pt x="145616" y="62103"/>
                      <a:pt x="144854" y="62674"/>
                      <a:pt x="144187" y="63246"/>
                    </a:cubicBezTo>
                    <a:lnTo>
                      <a:pt x="133519" y="68866"/>
                    </a:lnTo>
                    <a:cubicBezTo>
                      <a:pt x="132567" y="69247"/>
                      <a:pt x="131805" y="69818"/>
                      <a:pt x="131043" y="70485"/>
                    </a:cubicBezTo>
                    <a:cubicBezTo>
                      <a:pt x="118184" y="73628"/>
                      <a:pt x="49604" y="90869"/>
                      <a:pt x="39412" y="98298"/>
                    </a:cubicBezTo>
                    <a:cubicBezTo>
                      <a:pt x="22077" y="102203"/>
                      <a:pt x="1788" y="107251"/>
                      <a:pt x="74" y="111442"/>
                    </a:cubicBezTo>
                    <a:cubicBezTo>
                      <a:pt x="-2212" y="117157"/>
                      <a:pt x="49223" y="113824"/>
                      <a:pt x="62558" y="114300"/>
                    </a:cubicBezTo>
                    <a:lnTo>
                      <a:pt x="65034" y="115633"/>
                    </a:lnTo>
                    <a:cubicBezTo>
                      <a:pt x="60939" y="118777"/>
                      <a:pt x="37317" y="126873"/>
                      <a:pt x="37317" y="126873"/>
                    </a:cubicBezTo>
                    <a:cubicBezTo>
                      <a:pt x="36174" y="127349"/>
                      <a:pt x="3503" y="140779"/>
                      <a:pt x="8646" y="145066"/>
                    </a:cubicBezTo>
                    <a:cubicBezTo>
                      <a:pt x="13790" y="149447"/>
                      <a:pt x="87323" y="125063"/>
                      <a:pt x="71892" y="130302"/>
                    </a:cubicBezTo>
                    <a:cubicBezTo>
                      <a:pt x="70845" y="130683"/>
                      <a:pt x="9408" y="148209"/>
                      <a:pt x="15123" y="155829"/>
                    </a:cubicBezTo>
                    <a:cubicBezTo>
                      <a:pt x="18933" y="160877"/>
                      <a:pt x="73702" y="144113"/>
                      <a:pt x="76274" y="144685"/>
                    </a:cubicBezTo>
                    <a:cubicBezTo>
                      <a:pt x="78846" y="145256"/>
                      <a:pt x="29697" y="154972"/>
                      <a:pt x="34173" y="161449"/>
                    </a:cubicBezTo>
                    <a:cubicBezTo>
                      <a:pt x="36174" y="164211"/>
                      <a:pt x="60748" y="159734"/>
                      <a:pt x="68749" y="157448"/>
                    </a:cubicBezTo>
                    <a:cubicBezTo>
                      <a:pt x="75702" y="155448"/>
                      <a:pt x="98277" y="149542"/>
                      <a:pt x="133233" y="138113"/>
                    </a:cubicBezTo>
                    <a:cubicBezTo>
                      <a:pt x="172476" y="129254"/>
                      <a:pt x="266774" y="106013"/>
                      <a:pt x="350880" y="72485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3" name="Google Shape;1393;p46"/>
              <p:cNvSpPr/>
              <p:nvPr/>
            </p:nvSpPr>
            <p:spPr>
              <a:xfrm flipH="1">
                <a:off x="5807241" y="1918418"/>
                <a:ext cx="314098" cy="447837"/>
              </a:xfrm>
              <a:custGeom>
                <a:avLst/>
                <a:gdLst/>
                <a:ahLst/>
                <a:cxnLst/>
                <a:rect l="l" t="t" r="r" b="b"/>
                <a:pathLst>
                  <a:path w="307186" h="437982" extrusionOk="0">
                    <a:moveTo>
                      <a:pt x="206026" y="37552"/>
                    </a:moveTo>
                    <a:cubicBezTo>
                      <a:pt x="183070" y="84415"/>
                      <a:pt x="98965" y="280725"/>
                      <a:pt x="98965" y="280725"/>
                    </a:cubicBezTo>
                    <a:lnTo>
                      <a:pt x="0" y="336066"/>
                    </a:lnTo>
                    <a:lnTo>
                      <a:pt x="65532" y="437983"/>
                    </a:lnTo>
                    <a:cubicBezTo>
                      <a:pt x="65532" y="437983"/>
                      <a:pt x="158687" y="416171"/>
                      <a:pt x="205264" y="373880"/>
                    </a:cubicBezTo>
                    <a:cubicBezTo>
                      <a:pt x="250222" y="333208"/>
                      <a:pt x="307848" y="64984"/>
                      <a:pt x="307181" y="976"/>
                    </a:cubicBezTo>
                    <a:cubicBezTo>
                      <a:pt x="307181" y="976"/>
                      <a:pt x="228981" y="-9406"/>
                      <a:pt x="206026" y="3755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4" name="Google Shape;1394;p46"/>
              <p:cNvSpPr/>
              <p:nvPr/>
            </p:nvSpPr>
            <p:spPr>
              <a:xfrm flipH="1">
                <a:off x="5256844" y="2341951"/>
                <a:ext cx="706081" cy="1266029"/>
              </a:xfrm>
              <a:custGeom>
                <a:avLst/>
                <a:gdLst/>
                <a:ahLst/>
                <a:cxnLst/>
                <a:rect l="l" t="t" r="r" b="b"/>
                <a:pathLst>
                  <a:path w="690544" h="1529945" extrusionOk="0">
                    <a:moveTo>
                      <a:pt x="380506" y="10668"/>
                    </a:moveTo>
                    <a:cubicBezTo>
                      <a:pt x="423845" y="87344"/>
                      <a:pt x="446800" y="143542"/>
                      <a:pt x="471755" y="241078"/>
                    </a:cubicBezTo>
                    <a:cubicBezTo>
                      <a:pt x="500711" y="354139"/>
                      <a:pt x="676924" y="1310830"/>
                      <a:pt x="690545" y="1516475"/>
                    </a:cubicBezTo>
                    <a:cubicBezTo>
                      <a:pt x="654921" y="1525048"/>
                      <a:pt x="554909" y="1523810"/>
                      <a:pt x="532334" y="1522571"/>
                    </a:cubicBezTo>
                    <a:cubicBezTo>
                      <a:pt x="460706" y="1317307"/>
                      <a:pt x="303163" y="639128"/>
                      <a:pt x="272492" y="509778"/>
                    </a:cubicBezTo>
                    <a:cubicBezTo>
                      <a:pt x="267730" y="489871"/>
                      <a:pt x="237059" y="494252"/>
                      <a:pt x="239441" y="514540"/>
                    </a:cubicBezTo>
                    <a:cubicBezTo>
                      <a:pt x="256871" y="662273"/>
                      <a:pt x="168670" y="1295781"/>
                      <a:pt x="215438" y="1522952"/>
                    </a:cubicBezTo>
                    <a:cubicBezTo>
                      <a:pt x="196769" y="1532477"/>
                      <a:pt x="83802" y="1530382"/>
                      <a:pt x="62180" y="1527620"/>
                    </a:cubicBezTo>
                    <a:cubicBezTo>
                      <a:pt x="38749" y="1274254"/>
                      <a:pt x="-85933" y="315278"/>
                      <a:pt x="102185" y="4381"/>
                    </a:cubicBezTo>
                    <a:cubicBezTo>
                      <a:pt x="188291" y="-7430"/>
                      <a:pt x="293257" y="8096"/>
                      <a:pt x="380506" y="1066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5" name="Google Shape;1395;p46"/>
              <p:cNvSpPr/>
              <p:nvPr/>
            </p:nvSpPr>
            <p:spPr>
              <a:xfrm flipH="1">
                <a:off x="5468122" y="1896751"/>
                <a:ext cx="437178" cy="613196"/>
              </a:xfrm>
              <a:custGeom>
                <a:avLst/>
                <a:gdLst/>
                <a:ahLst/>
                <a:cxnLst/>
                <a:rect l="l" t="t" r="r" b="b"/>
                <a:pathLst>
                  <a:path w="427558" h="457609" extrusionOk="0">
                    <a:moveTo>
                      <a:pt x="83135" y="23717"/>
                    </a:moveTo>
                    <a:cubicBezTo>
                      <a:pt x="85611" y="29813"/>
                      <a:pt x="-2971" y="218599"/>
                      <a:pt x="77" y="278130"/>
                    </a:cubicBezTo>
                    <a:cubicBezTo>
                      <a:pt x="3125" y="338137"/>
                      <a:pt x="44082" y="439102"/>
                      <a:pt x="40844" y="448056"/>
                    </a:cubicBezTo>
                    <a:cubicBezTo>
                      <a:pt x="40844" y="448056"/>
                      <a:pt x="170765" y="476250"/>
                      <a:pt x="427559" y="435769"/>
                    </a:cubicBezTo>
                    <a:cubicBezTo>
                      <a:pt x="411176" y="289465"/>
                      <a:pt x="353740" y="140494"/>
                      <a:pt x="327261" y="66199"/>
                    </a:cubicBezTo>
                    <a:cubicBezTo>
                      <a:pt x="327261" y="66199"/>
                      <a:pt x="245250" y="1619"/>
                      <a:pt x="223533" y="0"/>
                    </a:cubicBezTo>
                    <a:cubicBezTo>
                      <a:pt x="223438" y="0"/>
                      <a:pt x="184386" y="53816"/>
                      <a:pt x="83135" y="2371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6" name="Google Shape;1396;p46"/>
              <p:cNvSpPr/>
              <p:nvPr/>
            </p:nvSpPr>
            <p:spPr>
              <a:xfrm flipH="1">
                <a:off x="5880077" y="2029496"/>
                <a:ext cx="379532" cy="276607"/>
              </a:xfrm>
              <a:custGeom>
                <a:avLst/>
                <a:gdLst/>
                <a:ahLst/>
                <a:cxnLst/>
                <a:rect l="l" t="t" r="r" b="b"/>
                <a:pathLst>
                  <a:path w="371180" h="270520" extrusionOk="0">
                    <a:moveTo>
                      <a:pt x="371180" y="270521"/>
                    </a:moveTo>
                    <a:lnTo>
                      <a:pt x="310030" y="68877"/>
                    </a:lnTo>
                    <a:cubicBezTo>
                      <a:pt x="304981" y="52208"/>
                      <a:pt x="291265" y="39730"/>
                      <a:pt x="274216" y="36111"/>
                    </a:cubicBezTo>
                    <a:lnTo>
                      <a:pt x="26470" y="487"/>
                    </a:lnTo>
                    <a:cubicBezTo>
                      <a:pt x="10183" y="-2942"/>
                      <a:pt x="-3819" y="12298"/>
                      <a:pt x="943" y="28300"/>
                    </a:cubicBezTo>
                    <a:lnTo>
                      <a:pt x="52664" y="201750"/>
                    </a:lnTo>
                    <a:cubicBezTo>
                      <a:pt x="54950" y="209371"/>
                      <a:pt x="61046" y="215086"/>
                      <a:pt x="68761" y="216895"/>
                    </a:cubicBezTo>
                    <a:lnTo>
                      <a:pt x="371180" y="27052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7" name="Google Shape;1397;p46"/>
              <p:cNvSpPr/>
              <p:nvPr/>
            </p:nvSpPr>
            <p:spPr>
              <a:xfrm flipH="1">
                <a:off x="5793761" y="2148459"/>
                <a:ext cx="242121" cy="229775"/>
              </a:xfrm>
              <a:custGeom>
                <a:avLst/>
                <a:gdLst/>
                <a:ahLst/>
                <a:cxnLst/>
                <a:rect l="l" t="t" r="r" b="b"/>
                <a:pathLst>
                  <a:path w="236793" h="224719" extrusionOk="0">
                    <a:moveTo>
                      <a:pt x="204980" y="224720"/>
                    </a:moveTo>
                    <a:cubicBezTo>
                      <a:pt x="99158" y="152235"/>
                      <a:pt x="39626" y="95371"/>
                      <a:pt x="28292" y="85369"/>
                    </a:cubicBezTo>
                    <a:cubicBezTo>
                      <a:pt x="21815" y="79654"/>
                      <a:pt x="4098" y="60319"/>
                      <a:pt x="5527" y="57080"/>
                    </a:cubicBezTo>
                    <a:cubicBezTo>
                      <a:pt x="8861" y="49650"/>
                      <a:pt x="44865" y="87750"/>
                      <a:pt x="44008" y="85179"/>
                    </a:cubicBezTo>
                    <a:cubicBezTo>
                      <a:pt x="43055" y="82702"/>
                      <a:pt x="-2379" y="43269"/>
                      <a:pt x="98" y="37268"/>
                    </a:cubicBezTo>
                    <a:cubicBezTo>
                      <a:pt x="3908" y="28124"/>
                      <a:pt x="53819" y="72891"/>
                      <a:pt x="54676" y="73654"/>
                    </a:cubicBezTo>
                    <a:cubicBezTo>
                      <a:pt x="67916" y="84512"/>
                      <a:pt x="5241" y="32696"/>
                      <a:pt x="6289" y="25743"/>
                    </a:cubicBezTo>
                    <a:cubicBezTo>
                      <a:pt x="7337" y="18885"/>
                      <a:pt x="37626" y="40506"/>
                      <a:pt x="38674" y="41269"/>
                    </a:cubicBezTo>
                    <a:cubicBezTo>
                      <a:pt x="38674" y="41269"/>
                      <a:pt x="63439" y="61366"/>
                      <a:pt x="65344" y="59842"/>
                    </a:cubicBezTo>
                    <a:cubicBezTo>
                      <a:pt x="67154" y="58318"/>
                      <a:pt x="24672" y="1168"/>
                      <a:pt x="32102" y="25"/>
                    </a:cubicBezTo>
                    <a:cubicBezTo>
                      <a:pt x="39531" y="-1118"/>
                      <a:pt x="74393" y="36982"/>
                      <a:pt x="82965" y="45079"/>
                    </a:cubicBezTo>
                    <a:cubicBezTo>
                      <a:pt x="91538" y="53175"/>
                      <a:pt x="106587" y="61080"/>
                      <a:pt x="111445" y="60319"/>
                    </a:cubicBezTo>
                    <a:cubicBezTo>
                      <a:pt x="115541" y="59652"/>
                      <a:pt x="118970" y="41745"/>
                      <a:pt x="114874" y="32601"/>
                    </a:cubicBezTo>
                    <a:cubicBezTo>
                      <a:pt x="114874" y="32601"/>
                      <a:pt x="135829" y="54604"/>
                      <a:pt x="142211" y="73082"/>
                    </a:cubicBezTo>
                    <a:cubicBezTo>
                      <a:pt x="145544" y="82797"/>
                      <a:pt x="147640" y="95180"/>
                      <a:pt x="147640" y="95180"/>
                    </a:cubicBezTo>
                    <a:lnTo>
                      <a:pt x="236794" y="154045"/>
                    </a:lnTo>
                    <a:lnTo>
                      <a:pt x="204980" y="22472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8" name="Google Shape;1398;p46"/>
              <p:cNvSpPr/>
              <p:nvPr/>
            </p:nvSpPr>
            <p:spPr>
              <a:xfrm flipH="1">
                <a:off x="5512087" y="1963933"/>
                <a:ext cx="419411" cy="509509"/>
              </a:xfrm>
              <a:custGeom>
                <a:avLst/>
                <a:gdLst/>
                <a:ahLst/>
                <a:cxnLst/>
                <a:rect l="l" t="t" r="r" b="b"/>
                <a:pathLst>
                  <a:path w="410182" h="498297" extrusionOk="0">
                    <a:moveTo>
                      <a:pt x="283369" y="73313"/>
                    </a:moveTo>
                    <a:cubicBezTo>
                      <a:pt x="283369" y="73313"/>
                      <a:pt x="306419" y="-21556"/>
                      <a:pt x="348996" y="4543"/>
                    </a:cubicBezTo>
                    <a:cubicBezTo>
                      <a:pt x="421100" y="48644"/>
                      <a:pt x="449866" y="263051"/>
                      <a:pt x="319564" y="482984"/>
                    </a:cubicBezTo>
                    <a:cubicBezTo>
                      <a:pt x="277273" y="554326"/>
                      <a:pt x="0" y="353253"/>
                      <a:pt x="0" y="353253"/>
                    </a:cubicBezTo>
                    <a:lnTo>
                      <a:pt x="65627" y="250288"/>
                    </a:lnTo>
                    <a:lnTo>
                      <a:pt x="215360" y="343252"/>
                    </a:lnTo>
                    <a:lnTo>
                      <a:pt x="283369" y="7331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9" name="Google Shape;1399;p46"/>
            <p:cNvGrpSpPr/>
            <p:nvPr/>
          </p:nvGrpSpPr>
          <p:grpSpPr>
            <a:xfrm>
              <a:off x="4977785" y="1035662"/>
              <a:ext cx="676370" cy="1142272"/>
              <a:chOff x="2757910" y="1240337"/>
              <a:chExt cx="676370" cy="1142272"/>
            </a:xfrm>
          </p:grpSpPr>
          <p:sp>
            <p:nvSpPr>
              <p:cNvPr id="1400" name="Google Shape;1400;p46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avLst/>
                <a:gdLst/>
                <a:ahLst/>
                <a:cxnLst/>
                <a:rect l="l" t="t" r="r" b="b"/>
                <a:pathLst>
                  <a:path w="774" h="996" extrusionOk="0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1" name="Google Shape;1401;p46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avLst/>
                <a:gdLst/>
                <a:ahLst/>
                <a:cxnLst/>
                <a:rect l="l" t="t" r="r" b="b"/>
                <a:pathLst>
                  <a:path w="335" h="238" extrusionOk="0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2" name="Google Shape;1402;p46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avLst/>
                <a:gdLst/>
                <a:ahLst/>
                <a:cxnLst/>
                <a:rect l="l" t="t" r="r" b="b"/>
                <a:pathLst>
                  <a:path w="369" h="422" extrusionOk="0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3" name="Google Shape;1403;p46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69" extrusionOk="0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4" name="Google Shape;1404;p46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5" name="Google Shape;1405;p46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7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6" name="Google Shape;1406;p46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avLst/>
                <a:gdLst/>
                <a:ahLst/>
                <a:cxnLst/>
                <a:rect l="l" t="t" r="r" b="b"/>
                <a:pathLst>
                  <a:path w="450" h="46" extrusionOk="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7" name="Google Shape;1407;p46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avLst/>
                <a:gdLst/>
                <a:ahLst/>
                <a:cxnLst/>
                <a:rect l="l" t="t" r="r" b="b"/>
                <a:pathLst>
                  <a:path w="170" h="87" extrusionOk="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8" name="Google Shape;1408;p46"/>
            <p:cNvGrpSpPr/>
            <p:nvPr/>
          </p:nvGrpSpPr>
          <p:grpSpPr>
            <a:xfrm>
              <a:off x="5954721" y="2930236"/>
              <a:ext cx="821542" cy="769820"/>
              <a:chOff x="1932280" y="1331475"/>
              <a:chExt cx="637200" cy="597084"/>
            </a:xfrm>
          </p:grpSpPr>
          <p:sp>
            <p:nvSpPr>
              <p:cNvPr id="1409" name="Google Shape;1409;p46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46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1" name="Google Shape;1411;p46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2" name="Google Shape;1412;p46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3" name="Google Shape;1413;p46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4" name="Google Shape;1414;p46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avLst/>
                <a:gdLst/>
                <a:ahLst/>
                <a:cxnLst/>
                <a:rect l="l" t="t" r="r" b="b"/>
                <a:pathLst>
                  <a:path w="729" h="71" extrusionOk="0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5" name="Google Shape;1415;p46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6" name="Google Shape;1416;p46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7" name="Google Shape;1417;p46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8" name="Google Shape;1418;p46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9" name="Google Shape;1419;p46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avLst/>
                <a:gdLst/>
                <a:ahLst/>
                <a:cxnLst/>
                <a:rect l="l" t="t" r="r" b="b"/>
                <a:pathLst>
                  <a:path w="302" h="301" extrusionOk="0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0" name="Google Shape;1420;p46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41" extrusionOk="0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21" name="Google Shape;1421;p46"/>
            <p:cNvSpPr/>
            <p:nvPr/>
          </p:nvSpPr>
          <p:spPr>
            <a:xfrm>
              <a:off x="6979977" y="3349174"/>
              <a:ext cx="232055" cy="382764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46"/>
            <p:cNvSpPr/>
            <p:nvPr/>
          </p:nvSpPr>
          <p:spPr>
            <a:xfrm>
              <a:off x="6594533" y="924631"/>
              <a:ext cx="301600" cy="49757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46"/>
            <p:cNvSpPr/>
            <p:nvPr/>
          </p:nvSpPr>
          <p:spPr>
            <a:xfrm>
              <a:off x="5875411" y="1319404"/>
              <a:ext cx="200575" cy="197948"/>
            </a:xfrm>
            <a:custGeom>
              <a:avLst/>
              <a:gdLst/>
              <a:ahLst/>
              <a:cxnLst/>
              <a:rect l="l" t="t" r="r" b="b"/>
              <a:pathLst>
                <a:path w="835" h="823" extrusionOk="0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46"/>
            <p:cNvSpPr/>
            <p:nvPr/>
          </p:nvSpPr>
          <p:spPr>
            <a:xfrm>
              <a:off x="5619684" y="3111425"/>
              <a:ext cx="157450" cy="259725"/>
            </a:xfrm>
            <a:custGeom>
              <a:avLst/>
              <a:gdLst/>
              <a:ahLst/>
              <a:cxnLst/>
              <a:rect l="l" t="t" r="r" b="b"/>
              <a:pathLst>
                <a:path w="271" h="447" extrusionOk="0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25" name="Google Shape;1425;p46"/>
            <p:cNvGrpSpPr/>
            <p:nvPr/>
          </p:nvGrpSpPr>
          <p:grpSpPr>
            <a:xfrm>
              <a:off x="7530569" y="1422202"/>
              <a:ext cx="415198" cy="415198"/>
              <a:chOff x="1404969" y="1106377"/>
              <a:chExt cx="415198" cy="415198"/>
            </a:xfrm>
          </p:grpSpPr>
          <p:sp>
            <p:nvSpPr>
              <p:cNvPr id="1426" name="Google Shape;1426;p46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avLst/>
                <a:gdLst/>
                <a:ahLst/>
                <a:cxnLst/>
                <a:rect l="l" t="t" r="r" b="b"/>
                <a:pathLst>
                  <a:path w="474" h="474" extrusionOk="0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7" name="Google Shape;1427;p46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avLst/>
                <a:gdLst/>
                <a:ahLst/>
                <a:cxnLst/>
                <a:rect l="l" t="t" r="r" b="b"/>
                <a:pathLst>
                  <a:path w="348" h="343" extrusionOk="0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7F475FF-9865-5C54-7148-4A6D91242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03" y="3590922"/>
            <a:ext cx="5228754" cy="7049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497</Words>
  <Application>Microsoft Office PowerPoint</Application>
  <PresentationFormat>On-screen Show (16:9)</PresentationFormat>
  <Paragraphs>62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Calibri</vt:lpstr>
      <vt:lpstr>Anaheim</vt:lpstr>
      <vt:lpstr>Baloo 2 ExtraBold</vt:lpstr>
      <vt:lpstr>Arial</vt:lpstr>
      <vt:lpstr>DM Sans</vt:lpstr>
      <vt:lpstr>Wingdings</vt:lpstr>
      <vt:lpstr>Statistics and Data Analysis - 6th Grade by Slidesgo</vt:lpstr>
      <vt:lpstr>PowerPoint Presentation</vt:lpstr>
      <vt:lpstr>Employee Attrition Analysis</vt:lpstr>
      <vt:lpstr>01</vt:lpstr>
      <vt:lpstr>Introduction</vt:lpstr>
      <vt:lpstr>Objectives</vt:lpstr>
      <vt:lpstr>Methodology</vt:lpstr>
      <vt:lpstr>Results:</vt:lpstr>
      <vt:lpstr>Analysis: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Manogna</dc:creator>
  <cp:lastModifiedBy>Manogna Reddy</cp:lastModifiedBy>
  <cp:revision>6</cp:revision>
  <dcterms:modified xsi:type="dcterms:W3CDTF">2025-09-24T10:14:54Z</dcterms:modified>
</cp:coreProperties>
</file>